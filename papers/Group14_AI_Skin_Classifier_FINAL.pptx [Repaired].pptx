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9" r:id="rId4"/>
    <p:sldId id="266" r:id="rId5"/>
    <p:sldId id="260" r:id="rId6"/>
    <p:sldId id="261" r:id="rId7"/>
    <p:sldId id="262" r:id="rId8"/>
    <p:sldId id="267" r:id="rId9"/>
    <p:sldId id="264" r:id="rId10"/>
    <p:sldId id="265" r:id="rId11"/>
    <p:sldId id="268" r:id="rId12"/>
    <p:sldId id="269"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117" d="100"/>
          <a:sy n="117" d="100"/>
        </p:scale>
        <p:origin x="49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0763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6" name="Text 4"/>
          <p:cNvSpPr/>
          <p:nvPr/>
        </p:nvSpPr>
        <p:spPr>
          <a:xfrm>
            <a:off x="378823" y="2838559"/>
            <a:ext cx="8314508" cy="548640"/>
          </a:xfrm>
          <a:prstGeom prst="rect">
            <a:avLst/>
          </a:prstGeom>
          <a:noFill/>
          <a:ln/>
        </p:spPr>
        <p:txBody>
          <a:bodyPr wrap="square" rtlCol="0" anchor="t"/>
          <a:lstStyle/>
          <a:p>
            <a:pPr marL="0" indent="0">
              <a:buNone/>
            </a:pPr>
            <a:r>
              <a:rPr lang="en-US" sz="4400" b="1" dirty="0">
                <a:latin typeface="Times New Roman" panose="02020603050405020304" pitchFamily="18" charset="0"/>
                <a:ea typeface="Trebuchet MS" pitchFamily="34" charset="-122"/>
                <a:cs typeface="Times New Roman" panose="02020603050405020304" pitchFamily="18" charset="0"/>
              </a:rPr>
              <a:t>AI Skin Disease Classifier</a:t>
            </a:r>
            <a:endParaRPr lang="en-US" sz="4400" dirty="0">
              <a:latin typeface="Times New Roman" panose="02020603050405020304" pitchFamily="18" charset="0"/>
              <a:cs typeface="Times New Roman" panose="02020603050405020304" pitchFamily="18" charset="0"/>
            </a:endParaRPr>
          </a:p>
        </p:txBody>
      </p:sp>
      <p:sp>
        <p:nvSpPr>
          <p:cNvPr id="8" name="Shape 6"/>
          <p:cNvSpPr/>
          <p:nvPr/>
        </p:nvSpPr>
        <p:spPr>
          <a:xfrm>
            <a:off x="457199" y="3493007"/>
            <a:ext cx="6479177" cy="45719"/>
          </a:xfrm>
          <a:prstGeom prst="rect">
            <a:avLst/>
          </a:prstGeom>
          <a:solidFill>
            <a:srgbClr val="6AADA8">
              <a:alpha val="50000"/>
            </a:srgbClr>
          </a:solidFill>
          <a:ln w="12700">
            <a:solidFill>
              <a:srgbClr val="6AADA8">
                <a:alpha val="50000"/>
              </a:srgbClr>
            </a:solidFill>
            <a:prstDash val="solid"/>
          </a:ln>
        </p:spPr>
      </p:sp>
      <p:sp>
        <p:nvSpPr>
          <p:cNvPr id="9" name="Text 7"/>
          <p:cNvSpPr/>
          <p:nvPr/>
        </p:nvSpPr>
        <p:spPr>
          <a:xfrm>
            <a:off x="457200" y="3611880"/>
            <a:ext cx="5943600" cy="914400"/>
          </a:xfrm>
          <a:prstGeom prst="rect">
            <a:avLst/>
          </a:prstGeom>
          <a:noFill/>
          <a:ln/>
        </p:spPr>
        <p:txBody>
          <a:bodyPr wrap="square" rtlCol="0" anchor="ctr"/>
          <a:lstStyle/>
          <a:p>
            <a:pPr marL="0" indent="0">
              <a:buNone/>
            </a:pPr>
            <a:r>
              <a:rPr lang="en-US" sz="1700" b="1" dirty="0">
                <a:latin typeface="Calibri" pitchFamily="34" charset="0"/>
                <a:ea typeface="Calibri" pitchFamily="34" charset="-122"/>
                <a:cs typeface="Calibri" pitchFamily="34" charset="-120"/>
              </a:rPr>
              <a:t>SIMBEYE ABRAHAM</a:t>
            </a:r>
            <a:r>
              <a:rPr lang="en-US" sz="1700" dirty="0">
                <a:latin typeface="Calibri" pitchFamily="34" charset="0"/>
                <a:ea typeface="Calibri" pitchFamily="34" charset="-122"/>
                <a:cs typeface="Calibri" pitchFamily="34" charset="-120"/>
              </a:rPr>
              <a:t>   2410818</a:t>
            </a:r>
            <a:endParaRPr lang="en-US" sz="1700" dirty="0"/>
          </a:p>
          <a:p>
            <a:pPr marL="0" indent="0">
              <a:buNone/>
            </a:pPr>
            <a:r>
              <a:rPr lang="en-US" sz="1700" b="1" dirty="0">
                <a:latin typeface="Calibri" pitchFamily="34" charset="0"/>
                <a:ea typeface="Calibri" pitchFamily="34" charset="-122"/>
                <a:cs typeface="Calibri" pitchFamily="34" charset="-120"/>
              </a:rPr>
              <a:t>CHANSA NATASHA</a:t>
            </a:r>
            <a:r>
              <a:rPr lang="en-US" sz="1700" dirty="0">
                <a:latin typeface="Calibri" pitchFamily="34" charset="0"/>
                <a:ea typeface="Calibri" pitchFamily="34" charset="-122"/>
                <a:cs typeface="Calibri" pitchFamily="34" charset="-120"/>
              </a:rPr>
              <a:t>   2410754</a:t>
            </a:r>
            <a:endParaRPr lang="en-US" sz="1700" dirty="0"/>
          </a:p>
          <a:p>
            <a:pPr marL="0" indent="0">
              <a:buNone/>
            </a:pPr>
            <a:r>
              <a:rPr lang="en-US" sz="1700" b="1" dirty="0">
                <a:latin typeface="Calibri" pitchFamily="34" charset="0"/>
                <a:ea typeface="Calibri" pitchFamily="34" charset="-122"/>
                <a:cs typeface="Calibri" pitchFamily="34" charset="-120"/>
              </a:rPr>
              <a:t>LUKANGA MIRRIAM</a:t>
            </a:r>
            <a:r>
              <a:rPr lang="en-US" sz="1700" dirty="0">
                <a:latin typeface="Calibri" pitchFamily="34" charset="0"/>
                <a:ea typeface="Calibri" pitchFamily="34" charset="-122"/>
                <a:cs typeface="Calibri" pitchFamily="34" charset="-120"/>
              </a:rPr>
              <a:t>   2410826</a:t>
            </a:r>
            <a:endParaRPr lang="en-US" sz="1700" dirty="0"/>
          </a:p>
        </p:txBody>
      </p:sp>
      <p:pic>
        <p:nvPicPr>
          <p:cNvPr id="2" name="Picture 1">
            <a:extLst>
              <a:ext uri="{FF2B5EF4-FFF2-40B4-BE49-F238E27FC236}">
                <a16:creationId xmlns:a16="http://schemas.microsoft.com/office/drawing/2014/main" id="{E6A68B4C-C8F2-2869-D679-F7FF28845B73}"/>
              </a:ext>
            </a:extLst>
          </p:cNvPr>
          <p:cNvPicPr>
            <a:picLocks noChangeAspect="1"/>
          </p:cNvPicPr>
          <p:nvPr/>
        </p:nvPicPr>
        <p:blipFill>
          <a:blip r:embed="rId3"/>
          <a:stretch>
            <a:fillRect/>
          </a:stretch>
        </p:blipFill>
        <p:spPr>
          <a:xfrm>
            <a:off x="2837132" y="-222308"/>
            <a:ext cx="3080342" cy="308034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 name="Text 2"/>
          <p:cNvSpPr/>
          <p:nvPr/>
        </p:nvSpPr>
        <p:spPr>
          <a:xfrm>
            <a:off x="457200" y="391886"/>
            <a:ext cx="8412480" cy="475488"/>
          </a:xfrm>
          <a:prstGeom prst="rect">
            <a:avLst/>
          </a:prstGeom>
          <a:noFill/>
          <a:ln/>
        </p:spPr>
        <p:txBody>
          <a:bodyPr wrap="square" lIns="0" tIns="0" rIns="0" bIns="0" rtlCol="0" anchor="ctr"/>
          <a:lstStyle/>
          <a:p>
            <a:r>
              <a:rPr lang="en-US" sz="2800" b="1" dirty="0">
                <a:latin typeface="Times New Roman" panose="02020603050405020304" pitchFamily="18" charset="0"/>
                <a:cs typeface="Times New Roman" panose="02020603050405020304" pitchFamily="18" charset="0"/>
              </a:rPr>
              <a:t>PROJECT BACKGROUND</a:t>
            </a:r>
          </a:p>
        </p:txBody>
      </p:sp>
      <p:sp>
        <p:nvSpPr>
          <p:cNvPr id="6" name="Text 4"/>
          <p:cNvSpPr/>
          <p:nvPr/>
        </p:nvSpPr>
        <p:spPr>
          <a:xfrm>
            <a:off x="274320" y="4919472"/>
            <a:ext cx="7772400" cy="224028"/>
          </a:xfrm>
          <a:prstGeom prst="rect">
            <a:avLst/>
          </a:prstGeom>
          <a:noFill/>
          <a:ln/>
        </p:spPr>
        <p:txBody>
          <a:bodyPr wrap="square" lIns="0" tIns="0" rIns="0" bIns="0" rtlCol="0" anchor="ctr"/>
          <a:lstStyle/>
          <a:p>
            <a:pPr marL="0" indent="0">
              <a:buNone/>
            </a:pPr>
            <a:r>
              <a:rPr lang="en-US" sz="1200" dirty="0"/>
              <a:t>AI Skin Disease Classifier</a:t>
            </a:r>
          </a:p>
        </p:txBody>
      </p:sp>
      <p:sp>
        <p:nvSpPr>
          <p:cNvPr id="7" name="Text 5"/>
          <p:cNvSpPr/>
          <p:nvPr/>
        </p:nvSpPr>
        <p:spPr>
          <a:xfrm>
            <a:off x="7955280" y="4919472"/>
            <a:ext cx="1005840" cy="224028"/>
          </a:xfrm>
          <a:prstGeom prst="rect">
            <a:avLst/>
          </a:prstGeom>
          <a:noFill/>
          <a:ln/>
        </p:spPr>
        <p:txBody>
          <a:bodyPr wrap="square" lIns="0" tIns="0" rIns="0" bIns="0" rtlCol="0" anchor="ctr"/>
          <a:lstStyle/>
          <a:p>
            <a:pPr marL="0" indent="0" algn="r">
              <a:buNone/>
            </a:pPr>
            <a:r>
              <a:rPr lang="en-US" sz="1300" b="1" dirty="0">
                <a:solidFill>
                  <a:srgbClr val="1ABCA0"/>
                </a:solidFill>
              </a:rPr>
              <a:t>02 / 14</a:t>
            </a:r>
            <a:endParaRPr lang="en-US" sz="1300" dirty="0"/>
          </a:p>
        </p:txBody>
      </p:sp>
      <p:sp>
        <p:nvSpPr>
          <p:cNvPr id="12" name="Text 10"/>
          <p:cNvSpPr/>
          <p:nvPr/>
        </p:nvSpPr>
        <p:spPr>
          <a:xfrm>
            <a:off x="378823" y="1195903"/>
            <a:ext cx="8046720" cy="2653719"/>
          </a:xfrm>
          <a:prstGeom prst="rect">
            <a:avLst/>
          </a:prstGeom>
          <a:noFill/>
          <a:ln/>
        </p:spPr>
        <p:txBody>
          <a:bodyPr wrap="square" rtlCol="0" anchor="t"/>
          <a:lstStyle/>
          <a:p>
            <a:pPr marL="0" indent="0" algn="just">
              <a:buNone/>
            </a:pPr>
            <a:r>
              <a:rPr lang="en-US" sz="2000" dirty="0">
                <a:solidFill>
                  <a:srgbClr val="0D2E2C"/>
                </a:solidFill>
                <a:latin typeface="Calibri" pitchFamily="34" charset="0"/>
                <a:ea typeface="Calibri" pitchFamily="34" charset="-122"/>
                <a:cs typeface="Calibri" pitchFamily="34" charset="-120"/>
              </a:rPr>
              <a:t>Skin diseases are among the most prevalent health conditions in Zambia, but access to dermatologists is limited outside major urban centres. Most patients rely on GPs who may lack dermatological training, leading to frequent misdiagnosis.</a:t>
            </a:r>
          </a:p>
          <a:p>
            <a:pPr algn="just"/>
            <a:r>
              <a:rPr lang="en-US" sz="2000" dirty="0">
                <a:solidFill>
                  <a:srgbClr val="0D2E2C"/>
                </a:solidFill>
                <a:latin typeface="Calibri" pitchFamily="34" charset="0"/>
                <a:ea typeface="Calibri" pitchFamily="34" charset="-122"/>
                <a:cs typeface="Calibri" pitchFamily="34" charset="-120"/>
              </a:rPr>
              <a:t>CNNs trained on labelled dermatological datasets achieve clinician-level accuracy for skin condition classification from photographs. A Flask web tool making this accessible from any browser can extend diagnostic support to clinics and patients in under-served areas.</a:t>
            </a:r>
            <a:endParaRPr lang="en-US" sz="2000" dirty="0"/>
          </a:p>
          <a:p>
            <a:pPr marL="0" indent="0">
              <a:buNone/>
            </a:pP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4" name="Text 2"/>
          <p:cNvSpPr/>
          <p:nvPr/>
        </p:nvSpPr>
        <p:spPr>
          <a:xfrm>
            <a:off x="457200" y="365709"/>
            <a:ext cx="8412480" cy="475488"/>
          </a:xfrm>
          <a:prstGeom prst="rect">
            <a:avLst/>
          </a:prstGeom>
          <a:noFill/>
          <a:ln/>
        </p:spPr>
        <p:txBody>
          <a:bodyPr wrap="square" lIns="0" tIns="0" rIns="0" bIns="0" rtlCol="0" anchor="ctr"/>
          <a:lstStyle/>
          <a:p>
            <a:pPr marL="0" indent="0">
              <a:buNone/>
            </a:pPr>
            <a:r>
              <a:rPr lang="en-US" sz="2800" b="1" dirty="0">
                <a:latin typeface="Times New Roman" panose="02020603050405020304" pitchFamily="18" charset="0"/>
                <a:ea typeface="Trebuchet MS" pitchFamily="34" charset="-122"/>
                <a:cs typeface="Times New Roman" panose="02020603050405020304" pitchFamily="18" charset="0"/>
              </a:rPr>
              <a:t>Problem Statement</a:t>
            </a:r>
            <a:endParaRPr lang="en-US" sz="2800" dirty="0">
              <a:latin typeface="Times New Roman" panose="02020603050405020304" pitchFamily="18" charset="0"/>
              <a:cs typeface="Times New Roman" panose="02020603050405020304" pitchFamily="18" charset="0"/>
            </a:endParaRPr>
          </a:p>
        </p:txBody>
      </p:sp>
      <p:sp>
        <p:nvSpPr>
          <p:cNvPr id="6" name="Text 4"/>
          <p:cNvSpPr/>
          <p:nvPr/>
        </p:nvSpPr>
        <p:spPr>
          <a:xfrm>
            <a:off x="274320" y="4919472"/>
            <a:ext cx="7772400" cy="224028"/>
          </a:xfrm>
          <a:prstGeom prst="rect">
            <a:avLst/>
          </a:prstGeom>
          <a:noFill/>
          <a:ln/>
        </p:spPr>
        <p:txBody>
          <a:bodyPr wrap="square" lIns="0" tIns="0" rIns="0" bIns="0" rtlCol="0" anchor="ctr"/>
          <a:lstStyle/>
          <a:p>
            <a:pPr marL="0" indent="0">
              <a:buNone/>
            </a:pPr>
            <a:r>
              <a:rPr lang="en-US" sz="1200" dirty="0"/>
              <a:t>AI Skin Disease Classifier</a:t>
            </a:r>
          </a:p>
        </p:txBody>
      </p:sp>
      <p:sp>
        <p:nvSpPr>
          <p:cNvPr id="7" name="Text 5"/>
          <p:cNvSpPr/>
          <p:nvPr/>
        </p:nvSpPr>
        <p:spPr>
          <a:xfrm>
            <a:off x="7955280" y="4919472"/>
            <a:ext cx="1005840" cy="224028"/>
          </a:xfrm>
          <a:prstGeom prst="rect">
            <a:avLst/>
          </a:prstGeom>
          <a:noFill/>
          <a:ln/>
        </p:spPr>
        <p:txBody>
          <a:bodyPr wrap="square" lIns="0" tIns="0" rIns="0" bIns="0" rtlCol="0" anchor="ctr"/>
          <a:lstStyle/>
          <a:p>
            <a:pPr marL="0" indent="0" algn="r">
              <a:buNone/>
            </a:pPr>
            <a:r>
              <a:rPr lang="en-US" sz="1300" b="1" dirty="0"/>
              <a:t>04 / 14</a:t>
            </a:r>
            <a:endParaRPr lang="en-US" sz="1300" dirty="0"/>
          </a:p>
        </p:txBody>
      </p:sp>
      <p:sp>
        <p:nvSpPr>
          <p:cNvPr id="18" name="TextBox 17">
            <a:extLst>
              <a:ext uri="{FF2B5EF4-FFF2-40B4-BE49-F238E27FC236}">
                <a16:creationId xmlns:a16="http://schemas.microsoft.com/office/drawing/2014/main" id="{5EACF2C9-43EB-F9E6-C074-FBA7B5DA864D}"/>
              </a:ext>
            </a:extLst>
          </p:cNvPr>
          <p:cNvSpPr txBox="1"/>
          <p:nvPr/>
        </p:nvSpPr>
        <p:spPr>
          <a:xfrm>
            <a:off x="457200" y="1109790"/>
            <a:ext cx="7854042" cy="2862322"/>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Calibri" pitchFamily="34" charset="0"/>
              </a:rPr>
              <a:t>Zambia has fewer than 15 registered dermatologists serving a population of over 20 million people, leaving the vast majority of patients reliant on general practitioners who often lack specialized dermatological training. </a:t>
            </a:r>
          </a:p>
          <a:p>
            <a:endParaRPr lang="en-US" sz="1800" dirty="0">
              <a:latin typeface="Calibri" pitchFamily="34" charset="0"/>
            </a:endParaRPr>
          </a:p>
          <a:p>
            <a:pPr marL="285750" indent="-285750">
              <a:buFont typeface="Arial" panose="020B0604020202020204" pitchFamily="34" charset="0"/>
              <a:buChar char="•"/>
            </a:pPr>
            <a:r>
              <a:rPr lang="en-US" sz="1800" dirty="0">
                <a:latin typeface="Calibri" pitchFamily="34" charset="0"/>
              </a:rPr>
              <a:t>This shortage leads to frequent misdiagnosis of skin conditions that may appear visually similar but require distinctly different treatments. </a:t>
            </a:r>
          </a:p>
          <a:p>
            <a:endParaRPr lang="en-US" sz="1800" dirty="0">
              <a:latin typeface="Calibri" pitchFamily="34" charset="0"/>
            </a:endParaRPr>
          </a:p>
          <a:p>
            <a:pPr marL="285750" indent="-285750">
              <a:buFont typeface="Arial" panose="020B0604020202020204" pitchFamily="34" charset="0"/>
              <a:buChar char="•"/>
            </a:pPr>
            <a:r>
              <a:rPr lang="en-US" sz="1800" dirty="0">
                <a:latin typeface="Calibri" pitchFamily="34" charset="0"/>
              </a:rPr>
              <a:t>Compounding this challenge, most publicly available AI skin classifiers have been trained predominantly on light-skin datasets, significantly reducing their diagnostic accuracy for Zambian patients with darker skin tones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Shape 1"/>
          <p:cNvSpPr/>
          <p:nvPr/>
        </p:nvSpPr>
        <p:spPr>
          <a:xfrm>
            <a:off x="0" y="0"/>
            <a:ext cx="347472" cy="475488"/>
          </a:xfrm>
          <a:prstGeom prst="rect">
            <a:avLst/>
          </a:prstGeom>
          <a:solidFill>
            <a:schemeClr val="bg1"/>
          </a:solidFill>
          <a:ln w="12700">
            <a:solidFill>
              <a:srgbClr val="1ABCA0"/>
            </a:solidFill>
            <a:prstDash val="solid"/>
          </a:ln>
        </p:spPr>
      </p:sp>
      <p:sp>
        <p:nvSpPr>
          <p:cNvPr id="4" name="Text 2"/>
          <p:cNvSpPr/>
          <p:nvPr/>
        </p:nvSpPr>
        <p:spPr>
          <a:xfrm>
            <a:off x="457200" y="0"/>
            <a:ext cx="8412480" cy="475488"/>
          </a:xfrm>
          <a:prstGeom prst="rect">
            <a:avLst/>
          </a:prstGeom>
          <a:noFill/>
          <a:ln/>
        </p:spPr>
        <p:txBody>
          <a:bodyPr wrap="square" lIns="0" tIns="0" rIns="0" bIns="0" rtlCol="0" anchor="ctr"/>
          <a:lstStyle/>
          <a:p>
            <a:pPr marL="0" indent="0">
              <a:buNone/>
            </a:pPr>
            <a:r>
              <a:rPr lang="en-US" sz="2800" b="1" dirty="0">
                <a:latin typeface="Times New Roman" panose="02020603050405020304" pitchFamily="18" charset="0"/>
                <a:ea typeface="Trebuchet MS" pitchFamily="34" charset="-122"/>
                <a:cs typeface="Times New Roman" panose="02020603050405020304" pitchFamily="18" charset="0"/>
              </a:rPr>
              <a:t>Literature Review</a:t>
            </a:r>
            <a:endParaRPr lang="en-US" sz="2800" dirty="0">
              <a:latin typeface="Times New Roman" panose="02020603050405020304" pitchFamily="18" charset="0"/>
              <a:cs typeface="Times New Roman" panose="02020603050405020304" pitchFamily="18" charset="0"/>
            </a:endParaRPr>
          </a:p>
        </p:txBody>
      </p:sp>
      <p:sp>
        <p:nvSpPr>
          <p:cNvPr id="6" name="Text 4"/>
          <p:cNvSpPr/>
          <p:nvPr/>
        </p:nvSpPr>
        <p:spPr>
          <a:xfrm>
            <a:off x="274320" y="4919472"/>
            <a:ext cx="7772400" cy="224028"/>
          </a:xfrm>
          <a:prstGeom prst="rect">
            <a:avLst/>
          </a:prstGeom>
          <a:noFill/>
          <a:ln/>
        </p:spPr>
        <p:txBody>
          <a:bodyPr wrap="square" lIns="0" tIns="0" rIns="0" bIns="0" rtlCol="0" anchor="ctr"/>
          <a:lstStyle/>
          <a:p>
            <a:pPr marL="0" indent="0">
              <a:buNone/>
            </a:pPr>
            <a:r>
              <a:rPr lang="en-US" sz="1200" dirty="0"/>
              <a:t>AI Skin Disease Classifier</a:t>
            </a:r>
          </a:p>
        </p:txBody>
      </p:sp>
      <p:sp>
        <p:nvSpPr>
          <p:cNvPr id="7" name="Text 5"/>
          <p:cNvSpPr/>
          <p:nvPr/>
        </p:nvSpPr>
        <p:spPr>
          <a:xfrm>
            <a:off x="7955280" y="4919472"/>
            <a:ext cx="1005840" cy="224028"/>
          </a:xfrm>
          <a:prstGeom prst="rect">
            <a:avLst/>
          </a:prstGeom>
          <a:noFill/>
          <a:ln/>
        </p:spPr>
        <p:txBody>
          <a:bodyPr wrap="square" lIns="0" tIns="0" rIns="0" bIns="0" rtlCol="0" anchor="ctr"/>
          <a:lstStyle/>
          <a:p>
            <a:pPr marL="0" indent="0" algn="r">
              <a:buNone/>
            </a:pPr>
            <a:r>
              <a:rPr lang="en-US" sz="1300" b="1" dirty="0"/>
              <a:t>11 / 14</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182880" y="594360"/>
          <a:ext cx="8778240" cy="2956560"/>
        </p:xfrm>
        <a:graphic>
          <a:graphicData uri="http://schemas.openxmlformats.org/drawingml/2006/table">
            <a:tbl>
              <a:tblPr/>
              <a:tblGrid>
                <a:gridCol w="17373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tblGrid>
              <a:tr h="0">
                <a:tc>
                  <a:txBody>
                    <a:bodyPr/>
                    <a:lstStyle/>
                    <a:p>
                      <a:pPr marL="0" indent="0">
                        <a:buNone/>
                      </a:pPr>
                      <a:r>
                        <a:rPr lang="en-US" sz="1600" b="1" dirty="0">
                          <a:solidFill>
                            <a:srgbClr val="FFFFFF"/>
                          </a:solidFill>
                        </a:rPr>
                        <a:t>Author &amp; Year</a:t>
                      </a:r>
                      <a:endParaRPr lang="en-US" sz="16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0D3D3A"/>
                    </a:solidFill>
                  </a:tcPr>
                </a:tc>
                <a:tc>
                  <a:txBody>
                    <a:bodyPr/>
                    <a:lstStyle/>
                    <a:p>
                      <a:pPr marL="0" indent="0">
                        <a:buNone/>
                      </a:pPr>
                      <a:r>
                        <a:rPr lang="en-US" sz="1600" b="1" dirty="0">
                          <a:solidFill>
                            <a:srgbClr val="FFFFFF"/>
                          </a:solidFill>
                        </a:rPr>
                        <a:t>Title</a:t>
                      </a:r>
                      <a:endParaRPr lang="en-US" sz="16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0D3D3A"/>
                    </a:solidFill>
                  </a:tcPr>
                </a:tc>
                <a:tc>
                  <a:txBody>
                    <a:bodyPr/>
                    <a:lstStyle/>
                    <a:p>
                      <a:pPr marL="0" indent="0">
                        <a:buNone/>
                      </a:pPr>
                      <a:r>
                        <a:rPr lang="en-US" sz="1600" b="1" dirty="0">
                          <a:solidFill>
                            <a:srgbClr val="FFFFFF"/>
                          </a:solidFill>
                        </a:rPr>
                        <a:t>Contribution</a:t>
                      </a:r>
                      <a:endParaRPr lang="en-US" sz="16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0D3D3A"/>
                    </a:solidFill>
                  </a:tcPr>
                </a:tc>
                <a:tc>
                  <a:txBody>
                    <a:bodyPr/>
                    <a:lstStyle/>
                    <a:p>
                      <a:pPr marL="0" indent="0">
                        <a:buNone/>
                      </a:pPr>
                      <a:r>
                        <a:rPr lang="en-US" sz="1600" b="1" dirty="0">
                          <a:solidFill>
                            <a:srgbClr val="FFFFFF"/>
                          </a:solidFill>
                        </a:rPr>
                        <a:t>Gap</a:t>
                      </a:r>
                      <a:endParaRPr lang="en-US" sz="16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0D3D3A"/>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0D2E2C"/>
                          </a:solidFill>
                        </a:rPr>
                        <a:t>Esteva et al. (2017)</a:t>
                      </a:r>
                      <a:endParaRPr lang="en-US" sz="14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FFFFFF"/>
                    </a:solidFill>
                  </a:tcPr>
                </a:tc>
                <a:tc>
                  <a:txBody>
                    <a:bodyPr/>
                    <a:lstStyle/>
                    <a:p>
                      <a:pPr marL="0" indent="0">
                        <a:buNone/>
                      </a:pPr>
                      <a:r>
                        <a:rPr lang="en-US" sz="1400" dirty="0">
                          <a:solidFill>
                            <a:srgbClr val="0D2E2C"/>
                          </a:solidFill>
                        </a:rPr>
                        <a:t>Dermatologist-level Classification — Nature Vol.542</a:t>
                      </a:r>
                      <a:endParaRPr lang="en-US" sz="14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FFFFFF"/>
                    </a:solidFill>
                  </a:tcPr>
                </a:tc>
                <a:tc>
                  <a:txBody>
                    <a:bodyPr/>
                    <a:lstStyle/>
                    <a:p>
                      <a:pPr marL="0" indent="0">
                        <a:buNone/>
                      </a:pPr>
                      <a:r>
                        <a:rPr lang="en-US" sz="1400" dirty="0">
                          <a:solidFill>
                            <a:srgbClr val="0D2E2C"/>
                          </a:solidFill>
                        </a:rPr>
                        <a:t>CNN on 129,450 images achieved dermatologist-equivalent accuracy for malignant skin lesions.</a:t>
                      </a:r>
                      <a:endParaRPr lang="en-US" sz="14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FFFFFF"/>
                    </a:solidFill>
                  </a:tcPr>
                </a:tc>
                <a:tc>
                  <a:txBody>
                    <a:bodyPr/>
                    <a:lstStyle/>
                    <a:p>
                      <a:pPr marL="0" indent="0">
                        <a:buNone/>
                      </a:pPr>
                      <a:r>
                        <a:rPr lang="en-US" sz="1400" dirty="0">
                          <a:solidFill>
                            <a:srgbClr val="0D2E2C"/>
                          </a:solidFill>
                        </a:rPr>
                        <a:t>Dataset dominated by light-skinned patients — no deployable clinical tool produced.</a:t>
                      </a:r>
                      <a:endParaRPr lang="en-US" sz="14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0D2E2C"/>
                          </a:solidFill>
                        </a:rPr>
                        <a:t>Tan &amp; Le (2019)</a:t>
                      </a:r>
                      <a:endParaRPr lang="en-US" sz="14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E0F5F3"/>
                    </a:solidFill>
                  </a:tcPr>
                </a:tc>
                <a:tc>
                  <a:txBody>
                    <a:bodyPr/>
                    <a:lstStyle/>
                    <a:p>
                      <a:pPr marL="0" indent="0">
                        <a:buNone/>
                      </a:pPr>
                      <a:r>
                        <a:rPr lang="en-US" sz="1400" dirty="0">
                          <a:solidFill>
                            <a:srgbClr val="0D2E2C"/>
                          </a:solidFill>
                        </a:rPr>
                        <a:t>EfficientNet: Rethinking CNN Scaling — ICML 2019</a:t>
                      </a:r>
                      <a:endParaRPr lang="en-US" sz="14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E0F5F3"/>
                    </a:solidFill>
                  </a:tcPr>
                </a:tc>
                <a:tc>
                  <a:txBody>
                    <a:bodyPr/>
                    <a:lstStyle/>
                    <a:p>
                      <a:pPr marL="0" indent="0">
                        <a:buNone/>
                      </a:pPr>
                      <a:r>
                        <a:rPr lang="en-US" sz="1400" dirty="0">
                          <a:solidFill>
                            <a:srgbClr val="0D2E2C"/>
                          </a:solidFill>
                        </a:rPr>
                        <a:t>EfficientNet achieves state-of-the-art accuracy with fewer parameters — feasible on limited hardware.</a:t>
                      </a:r>
                      <a:endParaRPr lang="en-US" sz="14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E0F5F3"/>
                    </a:solidFill>
                  </a:tcPr>
                </a:tc>
                <a:tc>
                  <a:txBody>
                    <a:bodyPr/>
                    <a:lstStyle/>
                    <a:p>
                      <a:pPr marL="0" indent="0">
                        <a:buNone/>
                      </a:pPr>
                      <a:r>
                        <a:rPr lang="en-US" sz="1400" dirty="0">
                          <a:solidFill>
                            <a:srgbClr val="0D2E2C"/>
                          </a:solidFill>
                        </a:rPr>
                        <a:t>Evaluated on ImageNet — medical image classification with limited data not directly addressed.</a:t>
                      </a:r>
                      <a:endParaRPr lang="en-US" sz="14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E0F5F3"/>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0D2E2C"/>
                          </a:solidFill>
                        </a:rPr>
                        <a:t>Daneshjou et al. (2022)</a:t>
                      </a:r>
                      <a:endParaRPr lang="en-US" sz="14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FFFFFF"/>
                    </a:solidFill>
                  </a:tcPr>
                </a:tc>
                <a:tc>
                  <a:txBody>
                    <a:bodyPr/>
                    <a:lstStyle/>
                    <a:p>
                      <a:pPr marL="0" indent="0">
                        <a:buNone/>
                      </a:pPr>
                      <a:r>
                        <a:rPr lang="en-US" sz="1400" dirty="0">
                          <a:solidFill>
                            <a:srgbClr val="0D2E2C"/>
                          </a:solidFill>
                        </a:rPr>
                        <a:t>Disparities in Dermatology AI — Science Advances Vol.8</a:t>
                      </a:r>
                      <a:endParaRPr lang="en-US" sz="14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FFFFFF"/>
                    </a:solidFill>
                  </a:tcPr>
                </a:tc>
                <a:tc>
                  <a:txBody>
                    <a:bodyPr/>
                    <a:lstStyle/>
                    <a:p>
                      <a:pPr marL="0" indent="0">
                        <a:buNone/>
                      </a:pPr>
                      <a:r>
                        <a:rPr lang="en-US" sz="1400" dirty="0">
                          <a:solidFill>
                            <a:srgbClr val="0D2E2C"/>
                          </a:solidFill>
                        </a:rPr>
                        <a:t>Quantified that leading AI tools perform significantly worse on darker skin tones.</a:t>
                      </a:r>
                      <a:endParaRPr lang="en-US" sz="14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FFFFFF"/>
                    </a:solidFill>
                  </a:tcPr>
                </a:tc>
                <a:tc>
                  <a:txBody>
                    <a:bodyPr/>
                    <a:lstStyle/>
                    <a:p>
                      <a:pPr marL="0" indent="0">
                        <a:buNone/>
                      </a:pPr>
                      <a:r>
                        <a:rPr lang="en-US" sz="1400" dirty="0">
                          <a:solidFill>
                            <a:srgbClr val="0D2E2C"/>
                          </a:solidFill>
                        </a:rPr>
                        <a:t>Audit only — no corrected model or bias mitigation methodology proposed.</a:t>
                      </a:r>
                      <a:endParaRPr lang="en-US" sz="14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731520" y="368373"/>
            <a:ext cx="8412480" cy="475488"/>
          </a:xfrm>
          <a:prstGeom prst="rect">
            <a:avLst/>
          </a:prstGeom>
          <a:noFill/>
          <a:ln/>
        </p:spPr>
        <p:txBody>
          <a:bodyPr wrap="square" lIns="0" tIns="0" rIns="0" bIns="0" rtlCol="0" anchor="ctr"/>
          <a:lstStyle/>
          <a:p>
            <a:r>
              <a:rPr lang="en-US" sz="3600" b="1" dirty="0">
                <a:latin typeface="Times New Roman" panose="02020603050405020304" pitchFamily="18" charset="0"/>
                <a:cs typeface="Times New Roman" panose="02020603050405020304" pitchFamily="18" charset="0"/>
              </a:rPr>
              <a:t>RESEARCH OBJECTIVES</a:t>
            </a:r>
          </a:p>
        </p:txBody>
      </p:sp>
      <p:sp>
        <p:nvSpPr>
          <p:cNvPr id="6" name="Text 4"/>
          <p:cNvSpPr/>
          <p:nvPr/>
        </p:nvSpPr>
        <p:spPr>
          <a:xfrm>
            <a:off x="274320" y="4919472"/>
            <a:ext cx="7772400" cy="224028"/>
          </a:xfrm>
          <a:prstGeom prst="rect">
            <a:avLst/>
          </a:prstGeom>
          <a:noFill/>
          <a:ln/>
        </p:spPr>
        <p:txBody>
          <a:bodyPr wrap="square" lIns="0" tIns="0" rIns="0" bIns="0" rtlCol="0" anchor="ctr"/>
          <a:lstStyle/>
          <a:p>
            <a:pPr marL="0" indent="0">
              <a:buNone/>
            </a:pPr>
            <a:r>
              <a:rPr lang="en-US" sz="1200" dirty="0"/>
              <a:t>AI Skin Disease Classifier</a:t>
            </a:r>
          </a:p>
        </p:txBody>
      </p:sp>
      <p:sp>
        <p:nvSpPr>
          <p:cNvPr id="7" name="Text 5"/>
          <p:cNvSpPr/>
          <p:nvPr/>
        </p:nvSpPr>
        <p:spPr>
          <a:xfrm>
            <a:off x="7955280" y="4919472"/>
            <a:ext cx="1005840" cy="224028"/>
          </a:xfrm>
          <a:prstGeom prst="rect">
            <a:avLst/>
          </a:prstGeom>
          <a:noFill/>
          <a:ln/>
        </p:spPr>
        <p:txBody>
          <a:bodyPr wrap="square" lIns="0" tIns="0" rIns="0" bIns="0" rtlCol="0" anchor="ctr"/>
          <a:lstStyle/>
          <a:p>
            <a:pPr marL="0" indent="0" algn="r">
              <a:buNone/>
            </a:pPr>
            <a:r>
              <a:rPr lang="en-US" sz="1300" b="1" dirty="0"/>
              <a:t>05 / 14</a:t>
            </a:r>
            <a:endParaRPr lang="en-US" sz="1300" dirty="0"/>
          </a:p>
        </p:txBody>
      </p:sp>
      <p:sp>
        <p:nvSpPr>
          <p:cNvPr id="11" name="Text 9"/>
          <p:cNvSpPr/>
          <p:nvPr/>
        </p:nvSpPr>
        <p:spPr>
          <a:xfrm>
            <a:off x="457200" y="956854"/>
            <a:ext cx="8183880" cy="3353235"/>
          </a:xfrm>
          <a:prstGeom prst="rect">
            <a:avLst/>
          </a:prstGeom>
          <a:noFill/>
          <a:ln/>
        </p:spPr>
        <p:txBody>
          <a:bodyPr wrap="square" lIns="0" tIns="0" rIns="0" bIns="0" rtlCol="0" anchor="ctr"/>
          <a:lstStyle/>
          <a:p>
            <a:pPr marL="457200" indent="-457200">
              <a:buFont typeface="+mj-lt"/>
              <a:buAutoNum type="arabicPeriod"/>
            </a:pPr>
            <a:r>
              <a:rPr lang="en-US" sz="2000" dirty="0">
                <a:solidFill>
                  <a:srgbClr val="0D2E2C"/>
                </a:solidFill>
                <a:latin typeface="Calibri" pitchFamily="34" charset="0"/>
                <a:ea typeface="Calibri" pitchFamily="34" charset="-122"/>
                <a:cs typeface="Calibri" pitchFamily="34" charset="-120"/>
              </a:rPr>
              <a:t>To train a CNN via transfer learning (EfficientNet/ResNet) to classify at least five common skin conditions with measurable accuracy.</a:t>
            </a:r>
          </a:p>
          <a:p>
            <a:pPr marL="457200" indent="-457200">
              <a:buFont typeface="+mj-lt"/>
              <a:buAutoNum type="arabicPeriod"/>
            </a:pPr>
            <a:endParaRPr lang="en-US" sz="2000" dirty="0">
              <a:solidFill>
                <a:srgbClr val="0D2E2C"/>
              </a:solidFill>
              <a:latin typeface="Calibri" pitchFamily="34" charset="0"/>
              <a:ea typeface="Calibri" pitchFamily="34" charset="-122"/>
              <a:cs typeface="Calibri" pitchFamily="34" charset="-120"/>
            </a:endParaRPr>
          </a:p>
          <a:p>
            <a:pPr marL="457200" indent="-457200">
              <a:buFont typeface="+mj-lt"/>
              <a:buAutoNum type="arabicPeriod"/>
            </a:pPr>
            <a:r>
              <a:rPr lang="en-US" sz="2000" dirty="0">
                <a:solidFill>
                  <a:srgbClr val="0D2E2C"/>
                </a:solidFill>
                <a:latin typeface="Calibri" pitchFamily="34" charset="0"/>
                <a:ea typeface="Calibri" pitchFamily="34" charset="-122"/>
                <a:cs typeface="Calibri" pitchFamily="34" charset="-120"/>
              </a:rPr>
              <a:t>To develop a Flask web app that accepts uploaded skin photos and returns a classified diagnosis with a confidence score.</a:t>
            </a:r>
          </a:p>
          <a:p>
            <a:pPr marL="457200" indent="-457200">
              <a:buFont typeface="+mj-lt"/>
              <a:buAutoNum type="arabicPeriod"/>
            </a:pPr>
            <a:endParaRPr lang="en-US" sz="2000" dirty="0">
              <a:solidFill>
                <a:srgbClr val="0D2E2C"/>
              </a:solidFill>
              <a:latin typeface="Calibri" pitchFamily="34" charset="0"/>
              <a:ea typeface="Calibri" pitchFamily="34" charset="-122"/>
              <a:cs typeface="Calibri" pitchFamily="34" charset="-120"/>
            </a:endParaRPr>
          </a:p>
          <a:p>
            <a:pPr marL="457200" indent="-457200">
              <a:buFont typeface="+mj-lt"/>
              <a:buAutoNum type="arabicPeriod"/>
            </a:pPr>
            <a:r>
              <a:rPr lang="en-US" sz="2000" dirty="0">
                <a:solidFill>
                  <a:srgbClr val="0D2E2C"/>
                </a:solidFill>
                <a:latin typeface="Calibri" pitchFamily="34" charset="0"/>
                <a:ea typeface="Calibri" pitchFamily="34" charset="-122"/>
                <a:cs typeface="Calibri" pitchFamily="34" charset="-120"/>
              </a:rPr>
              <a:t>To evaluate model accuracy, sensitivity, and specificity across conditions and skin tone groups using a held-out test set and clinical review.</a:t>
            </a:r>
            <a:endParaRPr lang="en-US" sz="2000" dirty="0"/>
          </a:p>
          <a:p>
            <a:endParaRPr lang="en-US" sz="2000" dirty="0"/>
          </a:p>
          <a:p>
            <a:pPr marL="0" indent="0">
              <a:buNone/>
            </a:pPr>
            <a:endParaRPr lang="en-US" sz="2000" dirty="0"/>
          </a:p>
        </p:txBody>
      </p:sp>
      <p:sp>
        <p:nvSpPr>
          <p:cNvPr id="15" name="Text 13"/>
          <p:cNvSpPr/>
          <p:nvPr/>
        </p:nvSpPr>
        <p:spPr>
          <a:xfrm>
            <a:off x="731520" y="2249424"/>
            <a:ext cx="8183880" cy="868680"/>
          </a:xfrm>
          <a:prstGeom prst="rect">
            <a:avLst/>
          </a:prstGeom>
          <a:noFill/>
          <a:ln/>
        </p:spPr>
        <p:txBody>
          <a:bodyPr wrap="square" lIns="0" tIns="0" rIns="0" bIns="0" rtlCol="0" anchor="ctr"/>
          <a:lstStyle/>
          <a:p>
            <a:pPr marL="0" indent="0">
              <a:buNone/>
            </a:pPr>
            <a:endParaRPr lang="en-US" sz="2000" dirty="0"/>
          </a:p>
        </p:txBody>
      </p:sp>
      <p:sp>
        <p:nvSpPr>
          <p:cNvPr id="19" name="Text 17"/>
          <p:cNvSpPr/>
          <p:nvPr/>
        </p:nvSpPr>
        <p:spPr>
          <a:xfrm>
            <a:off x="731520" y="3639312"/>
            <a:ext cx="8183880" cy="868680"/>
          </a:xfrm>
          <a:prstGeom prst="rect">
            <a:avLst/>
          </a:prstGeom>
          <a:noFill/>
          <a:ln/>
        </p:spPr>
        <p:txBody>
          <a:bodyPr wrap="square" lIns="0" tIns="0" rIns="0" bIns="0" rtlCol="0" anchor="ctr"/>
          <a:lstStyle/>
          <a:p>
            <a:pPr marL="0" indent="0">
              <a:buNone/>
            </a:pP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4" name="Text 2"/>
          <p:cNvSpPr/>
          <p:nvPr/>
        </p:nvSpPr>
        <p:spPr>
          <a:xfrm>
            <a:off x="515983" y="205086"/>
            <a:ext cx="8412480" cy="475488"/>
          </a:xfrm>
          <a:prstGeom prst="rect">
            <a:avLst/>
          </a:prstGeom>
          <a:noFill/>
          <a:ln/>
        </p:spPr>
        <p:txBody>
          <a:bodyPr wrap="square" lIns="0" tIns="0" rIns="0" bIns="0" rtlCol="0" anchor="ctr"/>
          <a:lstStyle/>
          <a:p>
            <a:pPr marL="0" indent="0">
              <a:buNone/>
            </a:pPr>
            <a:r>
              <a:rPr lang="en-US" sz="2800" b="1" dirty="0">
                <a:latin typeface="Times New Roman" panose="02020603050405020304" pitchFamily="18" charset="0"/>
                <a:ea typeface="Trebuchet MS" pitchFamily="34" charset="-122"/>
                <a:cs typeface="Times New Roman" panose="02020603050405020304" pitchFamily="18" charset="0"/>
              </a:rPr>
              <a:t>Research Questions</a:t>
            </a:r>
            <a:endParaRPr lang="en-US" sz="2800" dirty="0">
              <a:latin typeface="Times New Roman" panose="02020603050405020304" pitchFamily="18" charset="0"/>
              <a:cs typeface="Times New Roman" panose="02020603050405020304" pitchFamily="18" charset="0"/>
            </a:endParaRPr>
          </a:p>
        </p:txBody>
      </p:sp>
      <p:sp>
        <p:nvSpPr>
          <p:cNvPr id="6" name="Text 4"/>
          <p:cNvSpPr/>
          <p:nvPr/>
        </p:nvSpPr>
        <p:spPr>
          <a:xfrm>
            <a:off x="274320" y="4919472"/>
            <a:ext cx="7772400" cy="224028"/>
          </a:xfrm>
          <a:prstGeom prst="rect">
            <a:avLst/>
          </a:prstGeom>
          <a:noFill/>
          <a:ln/>
        </p:spPr>
        <p:txBody>
          <a:bodyPr wrap="square" lIns="0" tIns="0" rIns="0" bIns="0" rtlCol="0" anchor="ctr"/>
          <a:lstStyle/>
          <a:p>
            <a:pPr marL="0" indent="0">
              <a:buNone/>
            </a:pPr>
            <a:r>
              <a:rPr lang="en-US" sz="1200" dirty="0"/>
              <a:t>AI Skin Disease Classifier</a:t>
            </a:r>
          </a:p>
        </p:txBody>
      </p:sp>
      <p:sp>
        <p:nvSpPr>
          <p:cNvPr id="7" name="Text 5"/>
          <p:cNvSpPr/>
          <p:nvPr/>
        </p:nvSpPr>
        <p:spPr>
          <a:xfrm>
            <a:off x="7955280" y="4919472"/>
            <a:ext cx="1005840" cy="224028"/>
          </a:xfrm>
          <a:prstGeom prst="rect">
            <a:avLst/>
          </a:prstGeom>
          <a:noFill/>
          <a:ln/>
        </p:spPr>
        <p:txBody>
          <a:bodyPr wrap="square" lIns="0" tIns="0" rIns="0" bIns="0" rtlCol="0" anchor="ctr"/>
          <a:lstStyle/>
          <a:p>
            <a:pPr marL="0" indent="0" algn="r">
              <a:buNone/>
            </a:pPr>
            <a:r>
              <a:rPr lang="en-US" sz="1300" b="1" dirty="0"/>
              <a:t>06 / 14</a:t>
            </a:r>
            <a:endParaRPr lang="en-US" sz="1300" dirty="0"/>
          </a:p>
        </p:txBody>
      </p:sp>
      <p:sp>
        <p:nvSpPr>
          <p:cNvPr id="11" name="Text 9"/>
          <p:cNvSpPr/>
          <p:nvPr/>
        </p:nvSpPr>
        <p:spPr>
          <a:xfrm>
            <a:off x="653143" y="1188719"/>
            <a:ext cx="7406640" cy="3304903"/>
          </a:xfrm>
          <a:prstGeom prst="rect">
            <a:avLst/>
          </a:prstGeom>
          <a:noFill/>
          <a:ln/>
        </p:spPr>
        <p:txBody>
          <a:bodyPr wrap="square" lIns="0" tIns="0" rIns="0" bIns="0" rtlCol="0" anchor="ctr"/>
          <a:lstStyle/>
          <a:p>
            <a:pPr marL="457200" indent="-457200">
              <a:buFont typeface="+mj-lt"/>
              <a:buAutoNum type="arabicPeriod"/>
            </a:pPr>
            <a:r>
              <a:rPr lang="en-US" sz="2000" dirty="0">
                <a:latin typeface="Calibri" pitchFamily="34" charset="0"/>
                <a:ea typeface="Calibri" pitchFamily="34" charset="-122"/>
                <a:cs typeface="Calibri" pitchFamily="34" charset="-120"/>
              </a:rPr>
              <a:t>How can a CNN via transfer learning be optimised to classify at least five skin conditions with clinically acceptable accuracy?</a:t>
            </a:r>
          </a:p>
          <a:p>
            <a:pPr marL="457200" indent="-457200">
              <a:buFont typeface="+mj-lt"/>
              <a:buAutoNum type="arabicPeriod"/>
            </a:pPr>
            <a:endParaRPr lang="en-US" sz="2000" dirty="0">
              <a:latin typeface="Calibri" pitchFamily="34" charset="0"/>
              <a:ea typeface="Calibri" pitchFamily="34" charset="-122"/>
              <a:cs typeface="Calibri" pitchFamily="34" charset="-120"/>
            </a:endParaRPr>
          </a:p>
          <a:p>
            <a:pPr marL="457200" indent="-457200">
              <a:buFont typeface="+mj-lt"/>
              <a:buAutoNum type="arabicPeriod"/>
            </a:pPr>
            <a:r>
              <a:rPr lang="en-US" sz="2000" dirty="0">
                <a:latin typeface="Calibri" pitchFamily="34" charset="0"/>
                <a:ea typeface="Calibri" pitchFamily="34" charset="-122"/>
                <a:cs typeface="Calibri" pitchFamily="34" charset="-120"/>
              </a:rPr>
              <a:t>How can a Flask web app be developed to accept uploaded photos and return a classified diagnosis with a confidence score?</a:t>
            </a:r>
          </a:p>
          <a:p>
            <a:pPr marL="457200" indent="-457200">
              <a:buFont typeface="+mj-lt"/>
              <a:buAutoNum type="arabicPeriod"/>
            </a:pPr>
            <a:endParaRPr lang="en-US" sz="2000" dirty="0">
              <a:latin typeface="Calibri" pitchFamily="34" charset="0"/>
              <a:ea typeface="Calibri" pitchFamily="34" charset="-122"/>
              <a:cs typeface="Calibri" pitchFamily="34" charset="-120"/>
            </a:endParaRPr>
          </a:p>
          <a:p>
            <a:pPr marL="457200" indent="-457200">
              <a:buFont typeface="+mj-lt"/>
              <a:buAutoNum type="arabicPeriod"/>
            </a:pPr>
            <a:r>
              <a:rPr lang="en-US" sz="2000" dirty="0">
                <a:latin typeface="Calibri" pitchFamily="34" charset="0"/>
                <a:ea typeface="Calibri" pitchFamily="34" charset="-122"/>
                <a:cs typeface="Calibri" pitchFamily="34" charset="-120"/>
              </a:rPr>
              <a:t>How does the model perform across skin conditions and skin tone groups as validated by a held-out test set and clinical expert review?</a:t>
            </a:r>
            <a:endParaRPr lang="en-US" sz="2000" dirty="0"/>
          </a:p>
          <a:p>
            <a:endParaRPr lang="en-US" sz="2000" dirty="0"/>
          </a:p>
          <a:p>
            <a:pPr marL="0" indent="0">
              <a:buNone/>
            </a:pPr>
            <a:endParaRPr lang="en-US" sz="2000" dirty="0"/>
          </a:p>
        </p:txBody>
      </p:sp>
      <p:sp>
        <p:nvSpPr>
          <p:cNvPr id="15" name="Text 13"/>
          <p:cNvSpPr/>
          <p:nvPr/>
        </p:nvSpPr>
        <p:spPr>
          <a:xfrm>
            <a:off x="1234440" y="2212848"/>
            <a:ext cx="7406640" cy="868680"/>
          </a:xfrm>
          <a:prstGeom prst="rect">
            <a:avLst/>
          </a:prstGeom>
          <a:noFill/>
          <a:ln/>
        </p:spPr>
        <p:txBody>
          <a:bodyPr wrap="square" lIns="0" tIns="0" rIns="0" bIns="0" rtlCol="0" anchor="ctr"/>
          <a:lstStyle/>
          <a:p>
            <a:pPr marL="0" indent="0">
              <a:buNone/>
            </a:pPr>
            <a:endParaRPr lang="en-US" sz="2000" dirty="0"/>
          </a:p>
        </p:txBody>
      </p:sp>
      <p:sp>
        <p:nvSpPr>
          <p:cNvPr id="19" name="Text 17"/>
          <p:cNvSpPr/>
          <p:nvPr/>
        </p:nvSpPr>
        <p:spPr>
          <a:xfrm>
            <a:off x="1234440" y="3602736"/>
            <a:ext cx="7406640" cy="868680"/>
          </a:xfrm>
          <a:prstGeom prst="rect">
            <a:avLst/>
          </a:prstGeom>
          <a:noFill/>
          <a:ln/>
        </p:spPr>
        <p:txBody>
          <a:bodyPr wrap="square" lIns="0" tIns="0" rIns="0" bIns="0" rtlCol="0" anchor="ctr"/>
          <a:lstStyle/>
          <a:p>
            <a:pPr marL="0" indent="0">
              <a:buNone/>
            </a:pP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4" name="Text 2"/>
          <p:cNvSpPr/>
          <p:nvPr/>
        </p:nvSpPr>
        <p:spPr>
          <a:xfrm>
            <a:off x="457200" y="374904"/>
            <a:ext cx="5264331" cy="475488"/>
          </a:xfrm>
          <a:prstGeom prst="rect">
            <a:avLst/>
          </a:prstGeom>
          <a:noFill/>
          <a:ln/>
        </p:spPr>
        <p:txBody>
          <a:bodyPr wrap="square" lIns="0" tIns="0" rIns="0" bIns="0" rtlCol="0" anchor="ctr"/>
          <a:lstStyle/>
          <a:p>
            <a:r>
              <a:rPr lang="en-US" sz="3600" b="1" dirty="0">
                <a:latin typeface="Times New Roman" panose="02020603050405020304" pitchFamily="18" charset="0"/>
                <a:cs typeface="Times New Roman" panose="02020603050405020304" pitchFamily="18" charset="0"/>
              </a:rPr>
              <a:t>SCOPE OF STUDY</a:t>
            </a:r>
          </a:p>
        </p:txBody>
      </p:sp>
      <p:sp>
        <p:nvSpPr>
          <p:cNvPr id="6" name="Text 4"/>
          <p:cNvSpPr/>
          <p:nvPr/>
        </p:nvSpPr>
        <p:spPr>
          <a:xfrm>
            <a:off x="274320" y="4919472"/>
            <a:ext cx="7772400" cy="224028"/>
          </a:xfrm>
          <a:prstGeom prst="rect">
            <a:avLst/>
          </a:prstGeom>
          <a:noFill/>
          <a:ln/>
        </p:spPr>
        <p:txBody>
          <a:bodyPr wrap="square" lIns="0" tIns="0" rIns="0" bIns="0" rtlCol="0" anchor="ctr"/>
          <a:lstStyle/>
          <a:p>
            <a:pPr marL="0" indent="0">
              <a:buNone/>
            </a:pPr>
            <a:r>
              <a:rPr lang="en-US" sz="1200" dirty="0"/>
              <a:t>AI Skin Disease Classifier</a:t>
            </a:r>
          </a:p>
        </p:txBody>
      </p:sp>
      <p:sp>
        <p:nvSpPr>
          <p:cNvPr id="7" name="Text 5"/>
          <p:cNvSpPr/>
          <p:nvPr/>
        </p:nvSpPr>
        <p:spPr>
          <a:xfrm>
            <a:off x="7955280" y="4919472"/>
            <a:ext cx="1005840" cy="224028"/>
          </a:xfrm>
          <a:prstGeom prst="rect">
            <a:avLst/>
          </a:prstGeom>
          <a:noFill/>
          <a:ln/>
        </p:spPr>
        <p:txBody>
          <a:bodyPr wrap="square" lIns="0" tIns="0" rIns="0" bIns="0" rtlCol="0" anchor="ctr"/>
          <a:lstStyle/>
          <a:p>
            <a:pPr marL="0" indent="0" algn="r">
              <a:buNone/>
            </a:pPr>
            <a:r>
              <a:rPr lang="en-US" sz="1300" b="1" dirty="0">
                <a:solidFill>
                  <a:srgbClr val="1ABCA0"/>
                </a:solidFill>
              </a:rPr>
              <a:t>07 / 14</a:t>
            </a:r>
            <a:endParaRPr lang="en-US" sz="1300" dirty="0"/>
          </a:p>
        </p:txBody>
      </p:sp>
      <p:sp>
        <p:nvSpPr>
          <p:cNvPr id="11" name="Text 9"/>
          <p:cNvSpPr/>
          <p:nvPr/>
        </p:nvSpPr>
        <p:spPr>
          <a:xfrm>
            <a:off x="457199" y="1289304"/>
            <a:ext cx="7824651" cy="2048256"/>
          </a:xfrm>
          <a:prstGeom prst="rect">
            <a:avLst/>
          </a:prstGeom>
          <a:noFill/>
          <a:ln/>
        </p:spPr>
        <p:txBody>
          <a:bodyPr wrap="square" rtlCol="0" anchor="ctr"/>
          <a:lstStyle/>
          <a:p>
            <a:pPr marL="285750" indent="-285750">
              <a:buFont typeface="Arial" panose="020B0604020202020204" pitchFamily="34" charset="0"/>
              <a:buChar char="•"/>
            </a:pPr>
            <a:r>
              <a:rPr lang="en-US" sz="2000" dirty="0">
                <a:solidFill>
                  <a:srgbClr val="0D2E2C"/>
                </a:solidFill>
                <a:latin typeface="Calibri" pitchFamily="34" charset="0"/>
                <a:ea typeface="Calibri" pitchFamily="34" charset="-122"/>
                <a:cs typeface="Calibri" pitchFamily="34" charset="-120"/>
              </a:rPr>
              <a:t>CNN via EfficientNet/ResNet transfer learning</a:t>
            </a:r>
          </a:p>
          <a:p>
            <a:endParaRPr lang="en-US" sz="2000" dirty="0">
              <a:solidFill>
                <a:srgbClr val="0D2E2C"/>
              </a:solidFill>
              <a:latin typeface="Calibri" pitchFamily="34" charset="0"/>
              <a:ea typeface="Calibri" pitchFamily="34" charset="-122"/>
              <a:cs typeface="Calibri" pitchFamily="34" charset="-120"/>
            </a:endParaRPr>
          </a:p>
          <a:p>
            <a:pPr marL="285750" indent="-285750">
              <a:buFont typeface="Arial" panose="020B0604020202020204" pitchFamily="34" charset="0"/>
              <a:buChar char="•"/>
            </a:pPr>
            <a:r>
              <a:rPr lang="en-US" sz="2000" dirty="0">
                <a:solidFill>
                  <a:srgbClr val="0D2E2C"/>
                </a:solidFill>
                <a:latin typeface="Calibri" pitchFamily="34" charset="0"/>
                <a:ea typeface="Calibri" pitchFamily="34" charset="-122"/>
                <a:cs typeface="Calibri" pitchFamily="34" charset="-120"/>
              </a:rPr>
              <a:t>Flask web app for photo upload and diagnosis</a:t>
            </a:r>
          </a:p>
          <a:p>
            <a:endParaRPr lang="en-US" sz="2000" dirty="0">
              <a:solidFill>
                <a:srgbClr val="0D2E2C"/>
              </a:solidFill>
              <a:latin typeface="Calibri" pitchFamily="34" charset="0"/>
              <a:ea typeface="Calibri" pitchFamily="34" charset="-122"/>
              <a:cs typeface="Calibri" pitchFamily="34" charset="-120"/>
            </a:endParaRPr>
          </a:p>
          <a:p>
            <a:pPr marL="285750" indent="-285750">
              <a:buFont typeface="Arial" panose="020B0604020202020204" pitchFamily="34" charset="0"/>
              <a:buChar char="•"/>
            </a:pPr>
            <a:r>
              <a:rPr lang="en-US" sz="2000" dirty="0">
                <a:solidFill>
                  <a:srgbClr val="0D2E2C"/>
                </a:solidFill>
                <a:latin typeface="Calibri" pitchFamily="34" charset="0"/>
                <a:ea typeface="Calibri" pitchFamily="34" charset="-122"/>
                <a:cs typeface="Calibri" pitchFamily="34" charset="-120"/>
              </a:rPr>
              <a:t>Accuracy, sensitivity, and specificity evaluation</a:t>
            </a: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p:txBody>
      </p:sp>
      <p:sp>
        <p:nvSpPr>
          <p:cNvPr id="17" name="Text 15"/>
          <p:cNvSpPr/>
          <p:nvPr/>
        </p:nvSpPr>
        <p:spPr>
          <a:xfrm>
            <a:off x="530351" y="2450592"/>
            <a:ext cx="6288459" cy="749808"/>
          </a:xfrm>
          <a:prstGeom prst="rect">
            <a:avLst/>
          </a:prstGeom>
          <a:noFill/>
          <a:ln/>
        </p:spPr>
        <p:txBody>
          <a:bodyPr wrap="square" rtlCol="0" anchor="ctr"/>
          <a:lstStyle/>
          <a:p>
            <a:pPr marL="285750" indent="-285750">
              <a:buFont typeface="Arial" panose="020B0604020202020204" pitchFamily="34" charset="0"/>
              <a:buChar char="•"/>
            </a:pPr>
            <a:endParaRPr lang="en-US" sz="1800" dirty="0"/>
          </a:p>
        </p:txBody>
      </p:sp>
      <p:sp>
        <p:nvSpPr>
          <p:cNvPr id="23" name="Text 21"/>
          <p:cNvSpPr/>
          <p:nvPr/>
        </p:nvSpPr>
        <p:spPr>
          <a:xfrm>
            <a:off x="530352" y="3474720"/>
            <a:ext cx="5942294" cy="749808"/>
          </a:xfrm>
          <a:prstGeom prst="rect">
            <a:avLst/>
          </a:prstGeom>
          <a:noFill/>
          <a:ln/>
        </p:spPr>
        <p:txBody>
          <a:bodyPr wrap="square" rtlCol="0" anchor="ctr"/>
          <a:lstStyle/>
          <a:p>
            <a:pPr marL="285750" indent="-285750">
              <a:buFont typeface="Arial" panose="020B0604020202020204" pitchFamily="34" charset="0"/>
              <a:buChar char="•"/>
            </a:pP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731520" y="365107"/>
            <a:ext cx="8412480" cy="475488"/>
          </a:xfrm>
          <a:prstGeom prst="rect">
            <a:avLst/>
          </a:prstGeom>
          <a:noFill/>
          <a:ln/>
        </p:spPr>
        <p:txBody>
          <a:bodyPr wrap="square" lIns="0" tIns="0" rIns="0" bIns="0" rtlCol="0" anchor="ctr"/>
          <a:lstStyle/>
          <a:p>
            <a:r>
              <a:rPr lang="en-US" sz="3600" b="1" dirty="0">
                <a:latin typeface="Times New Roman" panose="02020603050405020304" pitchFamily="18" charset="0"/>
                <a:cs typeface="Times New Roman" panose="02020603050405020304" pitchFamily="18" charset="0"/>
              </a:rPr>
              <a:t>RESEARCH METHODOLOGY</a:t>
            </a:r>
          </a:p>
        </p:txBody>
      </p:sp>
      <p:sp>
        <p:nvSpPr>
          <p:cNvPr id="6" name="Text 4"/>
          <p:cNvSpPr/>
          <p:nvPr/>
        </p:nvSpPr>
        <p:spPr>
          <a:xfrm>
            <a:off x="274320" y="4919472"/>
            <a:ext cx="7772400" cy="224028"/>
          </a:xfrm>
          <a:prstGeom prst="rect">
            <a:avLst/>
          </a:prstGeom>
          <a:noFill/>
          <a:ln/>
        </p:spPr>
        <p:txBody>
          <a:bodyPr wrap="square" lIns="0" tIns="0" rIns="0" bIns="0" rtlCol="0" anchor="ctr"/>
          <a:lstStyle/>
          <a:p>
            <a:pPr marL="0" indent="0">
              <a:buNone/>
            </a:pPr>
            <a:r>
              <a:rPr lang="en-US" sz="1200" dirty="0"/>
              <a:t>AI Skin Disease Classifier</a:t>
            </a:r>
          </a:p>
        </p:txBody>
      </p:sp>
      <p:sp>
        <p:nvSpPr>
          <p:cNvPr id="7" name="Text 5"/>
          <p:cNvSpPr/>
          <p:nvPr/>
        </p:nvSpPr>
        <p:spPr>
          <a:xfrm>
            <a:off x="7955280" y="4919472"/>
            <a:ext cx="1005840" cy="224028"/>
          </a:xfrm>
          <a:prstGeom prst="rect">
            <a:avLst/>
          </a:prstGeom>
          <a:noFill/>
          <a:ln/>
        </p:spPr>
        <p:txBody>
          <a:bodyPr wrap="square" lIns="0" tIns="0" rIns="0" bIns="0" rtlCol="0" anchor="ctr"/>
          <a:lstStyle/>
          <a:p>
            <a:pPr marL="0" indent="0" algn="r">
              <a:buNone/>
            </a:pPr>
            <a:r>
              <a:rPr lang="en-US" sz="1300" b="1" dirty="0"/>
              <a:t>12 / 14</a:t>
            </a:r>
            <a:endParaRPr lang="en-US" sz="1300" dirty="0"/>
          </a:p>
        </p:txBody>
      </p:sp>
      <p:sp>
        <p:nvSpPr>
          <p:cNvPr id="13" name="Text 11"/>
          <p:cNvSpPr/>
          <p:nvPr/>
        </p:nvSpPr>
        <p:spPr>
          <a:xfrm>
            <a:off x="2450592" y="621792"/>
            <a:ext cx="1965960" cy="411480"/>
          </a:xfrm>
          <a:prstGeom prst="rect">
            <a:avLst/>
          </a:prstGeom>
          <a:noFill/>
          <a:ln/>
        </p:spPr>
        <p:txBody>
          <a:bodyPr wrap="square" lIns="0" tIns="0" rIns="0" bIns="0" rtlCol="0" anchor="ctr"/>
          <a:lstStyle/>
          <a:p>
            <a:pPr marL="0" indent="0" algn="ctr">
              <a:buNone/>
            </a:pPr>
            <a:endParaRPr lang="en-US" sz="1600" dirty="0"/>
          </a:p>
        </p:txBody>
      </p:sp>
      <p:sp>
        <p:nvSpPr>
          <p:cNvPr id="17" name="Text 15"/>
          <p:cNvSpPr/>
          <p:nvPr/>
        </p:nvSpPr>
        <p:spPr>
          <a:xfrm>
            <a:off x="4626864" y="621792"/>
            <a:ext cx="1965960" cy="411480"/>
          </a:xfrm>
          <a:prstGeom prst="rect">
            <a:avLst/>
          </a:prstGeom>
          <a:noFill/>
          <a:ln/>
        </p:spPr>
        <p:txBody>
          <a:bodyPr wrap="square" lIns="0" tIns="0" rIns="0" bIns="0" rtlCol="0" anchor="ctr"/>
          <a:lstStyle/>
          <a:p>
            <a:pPr marL="0" indent="0" algn="ctr">
              <a:buNone/>
            </a:pPr>
            <a:endParaRPr lang="en-US" sz="1600" dirty="0"/>
          </a:p>
        </p:txBody>
      </p:sp>
      <p:sp>
        <p:nvSpPr>
          <p:cNvPr id="3" name="TextBox 2">
            <a:extLst>
              <a:ext uri="{FF2B5EF4-FFF2-40B4-BE49-F238E27FC236}">
                <a16:creationId xmlns:a16="http://schemas.microsoft.com/office/drawing/2014/main" id="{73C80643-C29B-EBAE-16D6-669210E6A2E9}"/>
              </a:ext>
            </a:extLst>
          </p:cNvPr>
          <p:cNvSpPr txBox="1"/>
          <p:nvPr/>
        </p:nvSpPr>
        <p:spPr>
          <a:xfrm>
            <a:off x="731519" y="1179576"/>
            <a:ext cx="6916783" cy="3046988"/>
          </a:xfrm>
          <a:prstGeom prst="rect">
            <a:avLst/>
          </a:prstGeom>
          <a:noFill/>
        </p:spPr>
        <p:txBody>
          <a:bodyPr wrap="square">
            <a:spAutoFit/>
          </a:bodyPr>
          <a:lstStyle/>
          <a:p>
            <a:pPr>
              <a:buFont typeface="Arial" panose="020B0604020202020204" pitchFamily="34" charset="0"/>
              <a:buChar char="•"/>
            </a:pPr>
            <a:r>
              <a:rPr lang="en-US" sz="2400" dirty="0"/>
              <a:t>Data collection techniques</a:t>
            </a:r>
          </a:p>
          <a:p>
            <a:pPr lvl="1">
              <a:buFont typeface="Arial" panose="020B0604020202020204" pitchFamily="34" charset="0"/>
              <a:buChar char="•"/>
            </a:pPr>
            <a:r>
              <a:rPr lang="en-US" dirty="0"/>
              <a:t>Literature Reviews serve as the fundamental method for data collection for the proposed project. Through systematic review of existing research, publications, journals and online articles.</a:t>
            </a:r>
          </a:p>
          <a:p>
            <a:pPr lvl="1"/>
            <a:endParaRPr lang="en-US" dirty="0"/>
          </a:p>
          <a:p>
            <a:pPr>
              <a:buFont typeface="Arial" panose="020B0604020202020204" pitchFamily="34" charset="0"/>
              <a:buChar char="•"/>
            </a:pPr>
            <a:r>
              <a:rPr lang="en-US" sz="2400" dirty="0"/>
              <a:t>Design tools</a:t>
            </a:r>
          </a:p>
          <a:p>
            <a:pPr lvl="1">
              <a:buFont typeface="Arial" panose="020B0604020202020204" pitchFamily="34" charset="0"/>
              <a:buChar char="•"/>
            </a:pPr>
            <a:r>
              <a:rPr lang="en-US" dirty="0"/>
              <a:t>Unified Modelling Language (UML) diagrams will serve as the design tool to visualize the system’s Object-oriented structure, the </a:t>
            </a:r>
            <a:r>
              <a:rPr lang="en-US" dirty="0" err="1"/>
              <a:t>behaviours</a:t>
            </a:r>
            <a:r>
              <a:rPr lang="en-US" dirty="0"/>
              <a:t> of the system components and how they interact with each other.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738052" y="240675"/>
            <a:ext cx="5715000" cy="747833"/>
          </a:xfrm>
          <a:prstGeom prst="rect">
            <a:avLst/>
          </a:prstGeom>
          <a:noFill/>
          <a:ln/>
        </p:spPr>
        <p:txBody>
          <a:bodyPr wrap="square" lIns="0" tIns="0" rIns="0" bIns="0" rtlCol="0" anchor="ctr"/>
          <a:lstStyle/>
          <a:p>
            <a:pPr marL="0" indent="0">
              <a:buNone/>
            </a:pPr>
            <a:r>
              <a:rPr lang="en-US" sz="3600" b="1" dirty="0">
                <a:latin typeface="Times New Roman" panose="02020603050405020304" pitchFamily="18" charset="0"/>
                <a:ea typeface="Trebuchet MS" pitchFamily="34" charset="-122"/>
                <a:cs typeface="Times New Roman" panose="02020603050405020304" pitchFamily="18" charset="0"/>
              </a:rPr>
              <a:t>Significance of the Study</a:t>
            </a:r>
            <a:endParaRPr lang="en-US" sz="3600" dirty="0">
              <a:latin typeface="Times New Roman" panose="02020603050405020304" pitchFamily="18" charset="0"/>
              <a:cs typeface="Times New Roman" panose="02020603050405020304" pitchFamily="18" charset="0"/>
            </a:endParaRPr>
          </a:p>
        </p:txBody>
      </p:sp>
      <p:sp>
        <p:nvSpPr>
          <p:cNvPr id="6" name="Text 4"/>
          <p:cNvSpPr/>
          <p:nvPr/>
        </p:nvSpPr>
        <p:spPr>
          <a:xfrm>
            <a:off x="274320" y="4919472"/>
            <a:ext cx="7772400" cy="224028"/>
          </a:xfrm>
          <a:prstGeom prst="rect">
            <a:avLst/>
          </a:prstGeom>
          <a:noFill/>
          <a:ln/>
        </p:spPr>
        <p:txBody>
          <a:bodyPr wrap="square" lIns="0" tIns="0" rIns="0" bIns="0" rtlCol="0" anchor="ctr"/>
          <a:lstStyle/>
          <a:p>
            <a:pPr marL="0" indent="0">
              <a:buNone/>
            </a:pPr>
            <a:r>
              <a:rPr lang="en-US" sz="1200" dirty="0"/>
              <a:t>AI Skin Disease Classifier</a:t>
            </a:r>
          </a:p>
        </p:txBody>
      </p:sp>
      <p:sp>
        <p:nvSpPr>
          <p:cNvPr id="7" name="Text 5"/>
          <p:cNvSpPr/>
          <p:nvPr/>
        </p:nvSpPr>
        <p:spPr>
          <a:xfrm>
            <a:off x="7985520" y="4919472"/>
            <a:ext cx="1005840" cy="224028"/>
          </a:xfrm>
          <a:prstGeom prst="rect">
            <a:avLst/>
          </a:prstGeom>
          <a:noFill/>
          <a:ln/>
        </p:spPr>
        <p:txBody>
          <a:bodyPr wrap="square" lIns="0" tIns="0" rIns="0" bIns="0" rtlCol="0" anchor="ctr"/>
          <a:lstStyle/>
          <a:p>
            <a:pPr marL="0" indent="0" algn="r">
              <a:buNone/>
            </a:pPr>
            <a:r>
              <a:rPr lang="en-US" sz="1300" b="1" dirty="0"/>
              <a:t>09 / 14</a:t>
            </a:r>
            <a:endParaRPr lang="en-US" sz="1300" dirty="0"/>
          </a:p>
        </p:txBody>
      </p:sp>
      <p:sp>
        <p:nvSpPr>
          <p:cNvPr id="12" name="Text 10"/>
          <p:cNvSpPr/>
          <p:nvPr/>
        </p:nvSpPr>
        <p:spPr>
          <a:xfrm>
            <a:off x="640079" y="1244221"/>
            <a:ext cx="7955281" cy="3203681"/>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2000" dirty="0">
                <a:latin typeface="Calibri" pitchFamily="34" charset="0"/>
                <a:ea typeface="Calibri" pitchFamily="34" charset="-122"/>
                <a:cs typeface="Calibri" pitchFamily="34" charset="-120"/>
              </a:rPr>
              <a:t>No app install required — any smartphone or PC with a camera can submit a photo for analysis.</a:t>
            </a:r>
          </a:p>
          <a:p>
            <a:endParaRPr lang="en-US" sz="2000" dirty="0">
              <a:latin typeface="Calibri" pitchFamily="34" charset="0"/>
              <a:ea typeface="Calibri" pitchFamily="34" charset="-122"/>
              <a:cs typeface="Calibri" pitchFamily="34" charset="-120"/>
            </a:endParaRPr>
          </a:p>
          <a:p>
            <a:pPr marL="285750" indent="-285750">
              <a:buFont typeface="Arial" panose="020B0604020202020204" pitchFamily="34" charset="0"/>
              <a:buChar char="•"/>
            </a:pPr>
            <a:r>
              <a:rPr lang="en-US" sz="2000" dirty="0">
                <a:latin typeface="Calibri" pitchFamily="34" charset="0"/>
                <a:ea typeface="Calibri" pitchFamily="34" charset="-122"/>
                <a:cs typeface="Calibri" pitchFamily="34" charset="-120"/>
              </a:rPr>
              <a:t>Confidence scores help clinicians weigh AI results alongside physical examination.</a:t>
            </a:r>
          </a:p>
          <a:p>
            <a:pPr marL="285750" indent="-285750">
              <a:buFont typeface="Arial" panose="020B0604020202020204" pitchFamily="34" charset="0"/>
              <a:buChar char="•"/>
            </a:pPr>
            <a:endParaRPr lang="en-US" sz="2000" dirty="0">
              <a:latin typeface="Calibri" pitchFamily="34" charset="0"/>
              <a:ea typeface="Calibri" pitchFamily="34" charset="-122"/>
              <a:cs typeface="Calibri" pitchFamily="34" charset="-120"/>
            </a:endParaRPr>
          </a:p>
          <a:p>
            <a:pPr marL="285750" indent="-285750">
              <a:buFont typeface="Arial" panose="020B0604020202020204" pitchFamily="34" charset="0"/>
              <a:buChar char="•"/>
            </a:pPr>
            <a:r>
              <a:rPr lang="en-US" sz="2000" dirty="0">
                <a:latin typeface="Calibri" pitchFamily="34" charset="0"/>
                <a:ea typeface="Calibri" pitchFamily="34" charset="-122"/>
                <a:cs typeface="Calibri" pitchFamily="34" charset="-120"/>
              </a:rPr>
              <a:t>Documents a CNN training and transfer learning pipeline applied to a Zambian health context.</a:t>
            </a:r>
            <a:endParaRPr lang="en-US" sz="2000" dirty="0"/>
          </a:p>
          <a:p>
            <a:endParaRPr lang="en-US" sz="2000" dirty="0"/>
          </a:p>
          <a:p>
            <a:pPr marL="0" indent="0">
              <a:buNone/>
            </a:pPr>
            <a:endParaRPr lang="en-US" sz="2000" dirty="0"/>
          </a:p>
        </p:txBody>
      </p:sp>
      <p:sp>
        <p:nvSpPr>
          <p:cNvPr id="17" name="Text 15"/>
          <p:cNvSpPr/>
          <p:nvPr/>
        </p:nvSpPr>
        <p:spPr>
          <a:xfrm>
            <a:off x="3291840" y="1755648"/>
            <a:ext cx="2423160" cy="881712"/>
          </a:xfrm>
          <a:prstGeom prst="rect">
            <a:avLst/>
          </a:prstGeom>
          <a:noFill/>
          <a:ln/>
        </p:spPr>
        <p:txBody>
          <a:bodyPr wrap="square" lIns="0" tIns="0" rIns="0" bIns="0" rtlCol="0" anchor="ctr"/>
          <a:lstStyle/>
          <a:p>
            <a:pPr marL="0" indent="0">
              <a:buNone/>
            </a:pPr>
            <a:endParaRPr lang="en-US" sz="1400" dirty="0"/>
          </a:p>
        </p:txBody>
      </p:sp>
      <p:sp>
        <p:nvSpPr>
          <p:cNvPr id="22" name="Text 20"/>
          <p:cNvSpPr/>
          <p:nvPr/>
        </p:nvSpPr>
        <p:spPr>
          <a:xfrm>
            <a:off x="6172200" y="1755648"/>
            <a:ext cx="2423160" cy="1073952"/>
          </a:xfrm>
          <a:prstGeom prst="rect">
            <a:avLst/>
          </a:prstGeom>
          <a:noFill/>
          <a:ln/>
        </p:spPr>
        <p:txBody>
          <a:bodyPr wrap="square" lIns="0" tIns="0" rIns="0" bIns="0" rtlCol="0" anchor="ctr"/>
          <a:lstStyle/>
          <a:p>
            <a:pPr marL="0" indent="0">
              <a:buNone/>
            </a:pP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545374" y="114930"/>
            <a:ext cx="8412480" cy="475488"/>
          </a:xfrm>
          <a:prstGeom prst="rect">
            <a:avLst/>
          </a:prstGeom>
          <a:noFill/>
          <a:ln/>
        </p:spPr>
        <p:txBody>
          <a:bodyPr wrap="square" lIns="0" tIns="0" rIns="0" bIns="0" rtlCol="0" anchor="ctr"/>
          <a:lstStyle/>
          <a:p>
            <a:pPr marL="0" indent="0">
              <a:buNone/>
            </a:pPr>
            <a:r>
              <a:rPr lang="en-US" sz="3600" b="1" dirty="0">
                <a:latin typeface="Times New Roman" panose="02020603050405020304" pitchFamily="18" charset="0"/>
                <a:ea typeface="Trebuchet MS" pitchFamily="34" charset="-122"/>
                <a:cs typeface="Times New Roman" panose="02020603050405020304" pitchFamily="18" charset="0"/>
              </a:rPr>
              <a:t>Conceptual Framework</a:t>
            </a:r>
            <a:endParaRPr lang="en-US" sz="3600" dirty="0">
              <a:latin typeface="Times New Roman" panose="02020603050405020304" pitchFamily="18" charset="0"/>
              <a:cs typeface="Times New Roman" panose="02020603050405020304" pitchFamily="18" charset="0"/>
            </a:endParaRPr>
          </a:p>
        </p:txBody>
      </p:sp>
      <p:sp>
        <p:nvSpPr>
          <p:cNvPr id="6" name="Text 4"/>
          <p:cNvSpPr/>
          <p:nvPr/>
        </p:nvSpPr>
        <p:spPr>
          <a:xfrm>
            <a:off x="274320" y="4919472"/>
            <a:ext cx="7772400" cy="224028"/>
          </a:xfrm>
          <a:prstGeom prst="rect">
            <a:avLst/>
          </a:prstGeom>
          <a:noFill/>
          <a:ln/>
        </p:spPr>
        <p:txBody>
          <a:bodyPr wrap="square" lIns="0" tIns="0" rIns="0" bIns="0" rtlCol="0" anchor="ctr"/>
          <a:lstStyle/>
          <a:p>
            <a:pPr marL="0" indent="0">
              <a:buNone/>
            </a:pPr>
            <a:r>
              <a:rPr lang="en-US" sz="1200" dirty="0"/>
              <a:t>AI Skin Disease Classifier</a:t>
            </a:r>
          </a:p>
        </p:txBody>
      </p:sp>
      <p:sp>
        <p:nvSpPr>
          <p:cNvPr id="7" name="Text 5"/>
          <p:cNvSpPr/>
          <p:nvPr/>
        </p:nvSpPr>
        <p:spPr>
          <a:xfrm>
            <a:off x="7955280" y="4919472"/>
            <a:ext cx="1005840" cy="224028"/>
          </a:xfrm>
          <a:prstGeom prst="rect">
            <a:avLst/>
          </a:prstGeom>
          <a:noFill/>
          <a:ln/>
        </p:spPr>
        <p:txBody>
          <a:bodyPr wrap="square" lIns="0" tIns="0" rIns="0" bIns="0" rtlCol="0" anchor="ctr"/>
          <a:lstStyle/>
          <a:p>
            <a:pPr marL="0" indent="0" algn="r">
              <a:buNone/>
            </a:pPr>
            <a:r>
              <a:rPr lang="en-US" sz="1300" b="1" dirty="0">
                <a:solidFill>
                  <a:srgbClr val="1ABCA0"/>
                </a:solidFill>
              </a:rPr>
              <a:t>10 / 14</a:t>
            </a:r>
            <a:endParaRPr lang="en-US" sz="1300" dirty="0"/>
          </a:p>
        </p:txBody>
      </p:sp>
      <p:sp>
        <p:nvSpPr>
          <p:cNvPr id="9" name="Shape 7"/>
          <p:cNvSpPr/>
          <p:nvPr/>
        </p:nvSpPr>
        <p:spPr>
          <a:xfrm>
            <a:off x="1764782" y="779182"/>
            <a:ext cx="219456" cy="219456"/>
          </a:xfrm>
          <a:prstGeom prst="ellipse">
            <a:avLst/>
          </a:prstGeom>
          <a:solidFill>
            <a:srgbClr val="FFFFFF"/>
          </a:solidFill>
          <a:ln w="25400">
            <a:solidFill>
              <a:srgbClr val="0D3D3A"/>
            </a:solidFill>
            <a:prstDash val="solid"/>
          </a:ln>
        </p:spPr>
      </p:sp>
      <p:sp>
        <p:nvSpPr>
          <p:cNvPr id="10" name="Shape 8"/>
          <p:cNvSpPr/>
          <p:nvPr/>
        </p:nvSpPr>
        <p:spPr>
          <a:xfrm>
            <a:off x="1865160" y="998638"/>
            <a:ext cx="9360" cy="256033"/>
          </a:xfrm>
          <a:prstGeom prst="line">
            <a:avLst/>
          </a:prstGeom>
          <a:noFill/>
          <a:ln w="25400">
            <a:solidFill>
              <a:srgbClr val="0D3D3A"/>
            </a:solidFill>
            <a:prstDash val="solid"/>
          </a:ln>
        </p:spPr>
      </p:sp>
      <p:sp>
        <p:nvSpPr>
          <p:cNvPr id="11" name="Shape 9"/>
          <p:cNvSpPr/>
          <p:nvPr/>
        </p:nvSpPr>
        <p:spPr>
          <a:xfrm>
            <a:off x="1714937" y="1254672"/>
            <a:ext cx="365760" cy="0"/>
          </a:xfrm>
          <a:prstGeom prst="line">
            <a:avLst/>
          </a:prstGeom>
          <a:noFill/>
          <a:ln w="25400">
            <a:solidFill>
              <a:srgbClr val="0D3D3A"/>
            </a:solidFill>
            <a:prstDash val="solid"/>
          </a:ln>
        </p:spPr>
      </p:sp>
      <p:sp>
        <p:nvSpPr>
          <p:cNvPr id="12" name="Shape 10"/>
          <p:cNvSpPr/>
          <p:nvPr/>
        </p:nvSpPr>
        <p:spPr>
          <a:xfrm flipH="1">
            <a:off x="1691640" y="1254672"/>
            <a:ext cx="173520" cy="225179"/>
          </a:xfrm>
          <a:prstGeom prst="line">
            <a:avLst/>
          </a:prstGeom>
          <a:noFill/>
          <a:ln w="25400">
            <a:solidFill>
              <a:srgbClr val="0D3D3A"/>
            </a:solidFill>
            <a:prstDash val="solid"/>
          </a:ln>
        </p:spPr>
      </p:sp>
      <p:sp>
        <p:nvSpPr>
          <p:cNvPr id="13" name="Shape 11"/>
          <p:cNvSpPr/>
          <p:nvPr/>
        </p:nvSpPr>
        <p:spPr>
          <a:xfrm>
            <a:off x="1874520" y="1250100"/>
            <a:ext cx="182880" cy="256032"/>
          </a:xfrm>
          <a:prstGeom prst="line">
            <a:avLst/>
          </a:prstGeom>
          <a:noFill/>
          <a:ln w="25400">
            <a:solidFill>
              <a:srgbClr val="0D3D3A"/>
            </a:solidFill>
            <a:prstDash val="solid"/>
          </a:ln>
        </p:spPr>
      </p:sp>
      <p:sp>
        <p:nvSpPr>
          <p:cNvPr id="14" name="Text 12"/>
          <p:cNvSpPr/>
          <p:nvPr/>
        </p:nvSpPr>
        <p:spPr>
          <a:xfrm>
            <a:off x="1364687" y="1445545"/>
            <a:ext cx="1056241" cy="256032"/>
          </a:xfrm>
          <a:prstGeom prst="rect">
            <a:avLst/>
          </a:prstGeom>
          <a:noFill/>
          <a:ln/>
        </p:spPr>
        <p:txBody>
          <a:bodyPr wrap="square" lIns="0" tIns="0" rIns="0" bIns="0" rtlCol="0" anchor="ctr"/>
          <a:lstStyle/>
          <a:p>
            <a:pPr marL="0" indent="0" algn="ctr">
              <a:buNone/>
            </a:pPr>
            <a:r>
              <a:rPr lang="en-US" sz="1100" dirty="0">
                <a:solidFill>
                  <a:srgbClr val="0D3D3A"/>
                </a:solidFill>
                <a:latin typeface="Calibri" pitchFamily="34" charset="0"/>
                <a:ea typeface="Calibri" pitchFamily="34" charset="-122"/>
                <a:cs typeface="Calibri" pitchFamily="34" charset="-120"/>
              </a:rPr>
              <a:t>Patient /Clinician</a:t>
            </a:r>
            <a:endParaRPr lang="en-US" sz="1100" dirty="0"/>
          </a:p>
        </p:txBody>
      </p:sp>
      <p:sp>
        <p:nvSpPr>
          <p:cNvPr id="15" name="Shape 13"/>
          <p:cNvSpPr/>
          <p:nvPr/>
        </p:nvSpPr>
        <p:spPr>
          <a:xfrm>
            <a:off x="1874520" y="1817028"/>
            <a:ext cx="0" cy="18288"/>
          </a:xfrm>
          <a:prstGeom prst="line">
            <a:avLst/>
          </a:prstGeom>
          <a:noFill/>
          <a:ln w="25400">
            <a:solidFill>
              <a:srgbClr val="0D3D3A"/>
            </a:solidFill>
            <a:prstDash val="solid"/>
          </a:ln>
        </p:spPr>
      </p:sp>
      <p:sp>
        <p:nvSpPr>
          <p:cNvPr id="16" name="Text 14"/>
          <p:cNvSpPr/>
          <p:nvPr/>
        </p:nvSpPr>
        <p:spPr>
          <a:xfrm>
            <a:off x="1783080" y="1798740"/>
            <a:ext cx="182880" cy="182880"/>
          </a:xfrm>
          <a:prstGeom prst="rect">
            <a:avLst/>
          </a:prstGeom>
          <a:noFill/>
          <a:ln/>
        </p:spPr>
        <p:txBody>
          <a:bodyPr wrap="square" lIns="0" tIns="0" rIns="0" bIns="0" rtlCol="0" anchor="ctr"/>
          <a:lstStyle/>
          <a:p>
            <a:pPr marL="0" indent="0" algn="ctr">
              <a:buNone/>
            </a:pPr>
            <a:r>
              <a:rPr lang="en-US" sz="1000" dirty="0">
                <a:solidFill>
                  <a:srgbClr val="0D3D3A"/>
                </a:solidFill>
              </a:rPr>
              <a:t>▲</a:t>
            </a:r>
            <a:endParaRPr lang="en-US" sz="1000" dirty="0"/>
          </a:p>
        </p:txBody>
      </p:sp>
      <p:sp>
        <p:nvSpPr>
          <p:cNvPr id="17" name="Text 15"/>
          <p:cNvSpPr/>
          <p:nvPr/>
        </p:nvSpPr>
        <p:spPr>
          <a:xfrm>
            <a:off x="1691639" y="1354103"/>
            <a:ext cx="365743" cy="691525"/>
          </a:xfrm>
          <a:prstGeom prst="rect">
            <a:avLst/>
          </a:prstGeom>
          <a:noFill/>
          <a:ln/>
        </p:spPr>
        <p:txBody>
          <a:bodyPr wrap="square" lIns="0" tIns="0" rIns="0" bIns="0" rtlCol="0" anchor="ctr"/>
          <a:lstStyle/>
          <a:p>
            <a:pPr marL="0" indent="0" algn="ctr">
              <a:buNone/>
            </a:pPr>
            <a:r>
              <a:rPr lang="en-US" sz="1000" dirty="0">
                <a:solidFill>
                  <a:srgbClr val="0D3D3A"/>
                </a:solidFill>
              </a:rPr>
              <a:t>▼</a:t>
            </a:r>
            <a:endParaRPr lang="en-US" sz="1000" dirty="0"/>
          </a:p>
        </p:txBody>
      </p:sp>
      <p:sp>
        <p:nvSpPr>
          <p:cNvPr id="18" name="Shape 16"/>
          <p:cNvSpPr/>
          <p:nvPr/>
        </p:nvSpPr>
        <p:spPr>
          <a:xfrm>
            <a:off x="1097280" y="1835316"/>
            <a:ext cx="1554480" cy="640080"/>
          </a:xfrm>
          <a:prstGeom prst="roundRect">
            <a:avLst>
              <a:gd name="adj" fmla="val 17143"/>
            </a:avLst>
          </a:prstGeom>
          <a:solidFill>
            <a:srgbClr val="FFFFFF"/>
          </a:solidFill>
          <a:ln w="25400">
            <a:solidFill>
              <a:srgbClr val="0D3D3A"/>
            </a:solidFill>
            <a:prstDash val="solid"/>
          </a:ln>
        </p:spPr>
      </p:sp>
      <p:sp>
        <p:nvSpPr>
          <p:cNvPr id="19" name="Text 17"/>
          <p:cNvSpPr/>
          <p:nvPr/>
        </p:nvSpPr>
        <p:spPr>
          <a:xfrm>
            <a:off x="1097280" y="1835316"/>
            <a:ext cx="1554480" cy="640080"/>
          </a:xfrm>
          <a:prstGeom prst="rect">
            <a:avLst/>
          </a:prstGeom>
          <a:noFill/>
          <a:ln/>
        </p:spPr>
        <p:txBody>
          <a:bodyPr wrap="square" lIns="50800" tIns="50800" rIns="50800" bIns="50800" rtlCol="0" anchor="ctr"/>
          <a:lstStyle/>
          <a:p>
            <a:pPr marL="0" indent="0" algn="ctr">
              <a:buNone/>
            </a:pPr>
            <a:r>
              <a:rPr lang="en-US" sz="1300" dirty="0">
                <a:solidFill>
                  <a:srgbClr val="0D3D3A"/>
                </a:solidFill>
                <a:latin typeface="Calibri" pitchFamily="34" charset="0"/>
                <a:ea typeface="Calibri" pitchFamily="34" charset="-122"/>
                <a:cs typeface="Calibri" pitchFamily="34" charset="-120"/>
              </a:rPr>
              <a:t>Flask</a:t>
            </a:r>
            <a:endParaRPr lang="en-US" sz="1300" dirty="0"/>
          </a:p>
          <a:p>
            <a:pPr marL="0" indent="0" algn="ctr">
              <a:buNone/>
            </a:pPr>
            <a:r>
              <a:rPr lang="en-US" sz="1300" dirty="0">
                <a:solidFill>
                  <a:srgbClr val="0D3D3A"/>
                </a:solidFill>
                <a:latin typeface="Calibri" pitchFamily="34" charset="0"/>
                <a:ea typeface="Calibri" pitchFamily="34" charset="-122"/>
                <a:cs typeface="Calibri" pitchFamily="34" charset="-120"/>
              </a:rPr>
              <a:t>Web App</a:t>
            </a:r>
            <a:endParaRPr lang="en-US" sz="1300" dirty="0"/>
          </a:p>
        </p:txBody>
      </p:sp>
      <p:sp>
        <p:nvSpPr>
          <p:cNvPr id="20" name="Shape 18"/>
          <p:cNvSpPr/>
          <p:nvPr/>
        </p:nvSpPr>
        <p:spPr>
          <a:xfrm>
            <a:off x="2688336" y="2155356"/>
            <a:ext cx="932688" cy="0"/>
          </a:xfrm>
          <a:prstGeom prst="line">
            <a:avLst/>
          </a:prstGeom>
          <a:noFill/>
          <a:ln w="25400">
            <a:solidFill>
              <a:srgbClr val="0D3D3A"/>
            </a:solidFill>
            <a:prstDash val="solid"/>
          </a:ln>
        </p:spPr>
      </p:sp>
      <p:sp>
        <p:nvSpPr>
          <p:cNvPr id="21" name="Text 19"/>
          <p:cNvSpPr/>
          <p:nvPr/>
        </p:nvSpPr>
        <p:spPr>
          <a:xfrm>
            <a:off x="2679192" y="2045628"/>
            <a:ext cx="182880" cy="219456"/>
          </a:xfrm>
          <a:prstGeom prst="rect">
            <a:avLst/>
          </a:prstGeom>
          <a:noFill/>
          <a:ln/>
        </p:spPr>
        <p:txBody>
          <a:bodyPr wrap="square" lIns="0" tIns="0" rIns="0" bIns="0" rtlCol="0" anchor="ctr"/>
          <a:lstStyle/>
          <a:p>
            <a:pPr marL="0" indent="0" algn="ctr">
              <a:buNone/>
            </a:pPr>
            <a:r>
              <a:rPr lang="en-US" sz="1000" dirty="0">
                <a:solidFill>
                  <a:srgbClr val="0D3D3A"/>
                </a:solidFill>
              </a:rPr>
              <a:t>◄</a:t>
            </a:r>
            <a:endParaRPr lang="en-US" sz="1000" dirty="0"/>
          </a:p>
        </p:txBody>
      </p:sp>
      <p:sp>
        <p:nvSpPr>
          <p:cNvPr id="22" name="Text 20"/>
          <p:cNvSpPr/>
          <p:nvPr/>
        </p:nvSpPr>
        <p:spPr>
          <a:xfrm>
            <a:off x="3447288" y="2045628"/>
            <a:ext cx="182880" cy="219456"/>
          </a:xfrm>
          <a:prstGeom prst="rect">
            <a:avLst/>
          </a:prstGeom>
          <a:noFill/>
          <a:ln/>
        </p:spPr>
        <p:txBody>
          <a:bodyPr wrap="square" lIns="0" tIns="0" rIns="0" bIns="0" rtlCol="0" anchor="ctr"/>
          <a:lstStyle/>
          <a:p>
            <a:pPr marL="0" indent="0" algn="ctr">
              <a:buNone/>
            </a:pPr>
            <a:r>
              <a:rPr lang="en-US" sz="1000" dirty="0">
                <a:solidFill>
                  <a:srgbClr val="0D3D3A"/>
                </a:solidFill>
              </a:rPr>
              <a:t>►</a:t>
            </a:r>
            <a:endParaRPr lang="en-US" sz="1000" dirty="0"/>
          </a:p>
        </p:txBody>
      </p:sp>
      <p:sp>
        <p:nvSpPr>
          <p:cNvPr id="23" name="Shape 21"/>
          <p:cNvSpPr/>
          <p:nvPr/>
        </p:nvSpPr>
        <p:spPr>
          <a:xfrm>
            <a:off x="3657600" y="1835316"/>
            <a:ext cx="1828800" cy="640080"/>
          </a:xfrm>
          <a:prstGeom prst="roundRect">
            <a:avLst>
              <a:gd name="adj" fmla="val 17143"/>
            </a:avLst>
          </a:prstGeom>
          <a:solidFill>
            <a:srgbClr val="FFFFFF"/>
          </a:solidFill>
          <a:ln w="31750">
            <a:solidFill>
              <a:srgbClr val="0D3D3A"/>
            </a:solidFill>
            <a:prstDash val="solid"/>
          </a:ln>
        </p:spPr>
      </p:sp>
      <p:sp>
        <p:nvSpPr>
          <p:cNvPr id="24" name="Text 22"/>
          <p:cNvSpPr/>
          <p:nvPr/>
        </p:nvSpPr>
        <p:spPr>
          <a:xfrm>
            <a:off x="3657600" y="1835316"/>
            <a:ext cx="1828800" cy="640080"/>
          </a:xfrm>
          <a:prstGeom prst="rect">
            <a:avLst/>
          </a:prstGeom>
          <a:noFill/>
          <a:ln/>
        </p:spPr>
        <p:txBody>
          <a:bodyPr wrap="square" lIns="50800" tIns="50800" rIns="50800" bIns="50800" rtlCol="0" anchor="ctr"/>
          <a:lstStyle/>
          <a:p>
            <a:pPr marL="0" indent="0" algn="ctr">
              <a:buNone/>
            </a:pPr>
            <a:r>
              <a:rPr lang="en-US" sz="1300" b="1" dirty="0">
                <a:solidFill>
                  <a:srgbClr val="0D3D3A"/>
                </a:solidFill>
                <a:latin typeface="Calibri" pitchFamily="34" charset="0"/>
                <a:ea typeface="Calibri" pitchFamily="34" charset="-122"/>
                <a:cs typeface="Calibri" pitchFamily="34" charset="-120"/>
              </a:rPr>
              <a:t>CNN</a:t>
            </a:r>
            <a:endParaRPr lang="en-US" sz="1300" dirty="0"/>
          </a:p>
          <a:p>
            <a:pPr marL="0" indent="0" algn="ctr">
              <a:buNone/>
            </a:pPr>
            <a:r>
              <a:rPr lang="en-US" sz="1300" b="1" dirty="0">
                <a:solidFill>
                  <a:srgbClr val="0D3D3A"/>
                </a:solidFill>
                <a:latin typeface="Calibri" pitchFamily="34" charset="0"/>
                <a:ea typeface="Calibri" pitchFamily="34" charset="-122"/>
                <a:cs typeface="Calibri" pitchFamily="34" charset="-120"/>
              </a:rPr>
              <a:t>Classifier</a:t>
            </a:r>
            <a:endParaRPr lang="en-US" sz="1300" dirty="0"/>
          </a:p>
        </p:txBody>
      </p:sp>
      <p:sp>
        <p:nvSpPr>
          <p:cNvPr id="25" name="Shape 23"/>
          <p:cNvSpPr/>
          <p:nvPr/>
        </p:nvSpPr>
        <p:spPr>
          <a:xfrm>
            <a:off x="5522976" y="2155356"/>
            <a:ext cx="841248" cy="0"/>
          </a:xfrm>
          <a:prstGeom prst="line">
            <a:avLst/>
          </a:prstGeom>
          <a:noFill/>
          <a:ln w="25400">
            <a:solidFill>
              <a:srgbClr val="0D3D3A"/>
            </a:solidFill>
            <a:prstDash val="solid"/>
          </a:ln>
        </p:spPr>
      </p:sp>
      <p:sp>
        <p:nvSpPr>
          <p:cNvPr id="26" name="Text 24"/>
          <p:cNvSpPr/>
          <p:nvPr/>
        </p:nvSpPr>
        <p:spPr>
          <a:xfrm>
            <a:off x="5513832" y="2045628"/>
            <a:ext cx="182880" cy="219456"/>
          </a:xfrm>
          <a:prstGeom prst="rect">
            <a:avLst/>
          </a:prstGeom>
          <a:noFill/>
          <a:ln/>
        </p:spPr>
        <p:txBody>
          <a:bodyPr wrap="square" lIns="0" tIns="0" rIns="0" bIns="0" rtlCol="0" anchor="ctr"/>
          <a:lstStyle/>
          <a:p>
            <a:pPr marL="0" indent="0" algn="ctr">
              <a:buNone/>
            </a:pPr>
            <a:r>
              <a:rPr lang="en-US" sz="1000" dirty="0">
                <a:solidFill>
                  <a:srgbClr val="0D3D3A"/>
                </a:solidFill>
              </a:rPr>
              <a:t>◄</a:t>
            </a:r>
            <a:endParaRPr lang="en-US" sz="1000" dirty="0"/>
          </a:p>
        </p:txBody>
      </p:sp>
      <p:sp>
        <p:nvSpPr>
          <p:cNvPr id="27" name="Text 25"/>
          <p:cNvSpPr/>
          <p:nvPr/>
        </p:nvSpPr>
        <p:spPr>
          <a:xfrm>
            <a:off x="6190488" y="2045628"/>
            <a:ext cx="182880" cy="219456"/>
          </a:xfrm>
          <a:prstGeom prst="rect">
            <a:avLst/>
          </a:prstGeom>
          <a:noFill/>
          <a:ln/>
        </p:spPr>
        <p:txBody>
          <a:bodyPr wrap="square" lIns="0" tIns="0" rIns="0" bIns="0" rtlCol="0" anchor="ctr"/>
          <a:lstStyle/>
          <a:p>
            <a:pPr marL="0" indent="0" algn="ctr">
              <a:buNone/>
            </a:pPr>
            <a:r>
              <a:rPr lang="en-US" sz="1000" dirty="0">
                <a:solidFill>
                  <a:srgbClr val="0D3D3A"/>
                </a:solidFill>
              </a:rPr>
              <a:t>►</a:t>
            </a:r>
            <a:endParaRPr lang="en-US" sz="1000" dirty="0"/>
          </a:p>
        </p:txBody>
      </p:sp>
      <p:sp>
        <p:nvSpPr>
          <p:cNvPr id="28" name="Shape 26"/>
          <p:cNvSpPr/>
          <p:nvPr/>
        </p:nvSpPr>
        <p:spPr>
          <a:xfrm>
            <a:off x="6400800" y="1835316"/>
            <a:ext cx="1645920" cy="640080"/>
          </a:xfrm>
          <a:prstGeom prst="roundRect">
            <a:avLst>
              <a:gd name="adj" fmla="val 17143"/>
            </a:avLst>
          </a:prstGeom>
          <a:solidFill>
            <a:srgbClr val="FFFFFF"/>
          </a:solidFill>
          <a:ln w="25400">
            <a:solidFill>
              <a:srgbClr val="0D3D3A"/>
            </a:solidFill>
            <a:prstDash val="solid"/>
          </a:ln>
        </p:spPr>
      </p:sp>
      <p:sp>
        <p:nvSpPr>
          <p:cNvPr id="29" name="Text 27"/>
          <p:cNvSpPr/>
          <p:nvPr/>
        </p:nvSpPr>
        <p:spPr>
          <a:xfrm>
            <a:off x="6400800" y="1835316"/>
            <a:ext cx="1645920" cy="640080"/>
          </a:xfrm>
          <a:prstGeom prst="rect">
            <a:avLst/>
          </a:prstGeom>
          <a:noFill/>
          <a:ln/>
        </p:spPr>
        <p:txBody>
          <a:bodyPr wrap="square" lIns="50800" tIns="50800" rIns="50800" bIns="50800" rtlCol="0" anchor="ctr"/>
          <a:lstStyle/>
          <a:p>
            <a:pPr marL="0" indent="0" algn="ctr">
              <a:buNone/>
            </a:pPr>
            <a:r>
              <a:rPr lang="en-US" sz="1300" dirty="0">
                <a:solidFill>
                  <a:srgbClr val="0D3D3A"/>
                </a:solidFill>
                <a:latin typeface="Calibri" pitchFamily="34" charset="0"/>
                <a:ea typeface="Calibri" pitchFamily="34" charset="-122"/>
                <a:cs typeface="Calibri" pitchFamily="34" charset="-120"/>
              </a:rPr>
              <a:t>Diagnosis</a:t>
            </a:r>
            <a:endParaRPr lang="en-US" sz="1300" dirty="0"/>
          </a:p>
          <a:p>
            <a:pPr marL="0" indent="0" algn="ctr">
              <a:buNone/>
            </a:pPr>
            <a:r>
              <a:rPr lang="en-US" sz="1300" dirty="0">
                <a:solidFill>
                  <a:srgbClr val="0D3D3A"/>
                </a:solidFill>
                <a:latin typeface="Calibri" pitchFamily="34" charset="0"/>
                <a:ea typeface="Calibri" pitchFamily="34" charset="-122"/>
                <a:cs typeface="Calibri" pitchFamily="34" charset="-120"/>
              </a:rPr>
              <a:t>Output</a:t>
            </a:r>
            <a:endParaRPr lang="en-US" sz="1300" dirty="0"/>
          </a:p>
        </p:txBody>
      </p:sp>
      <p:sp>
        <p:nvSpPr>
          <p:cNvPr id="30" name="Shape 28"/>
          <p:cNvSpPr/>
          <p:nvPr/>
        </p:nvSpPr>
        <p:spPr>
          <a:xfrm>
            <a:off x="4572000" y="2511972"/>
            <a:ext cx="0" cy="429768"/>
          </a:xfrm>
          <a:prstGeom prst="line">
            <a:avLst/>
          </a:prstGeom>
          <a:noFill/>
          <a:ln w="25400">
            <a:solidFill>
              <a:srgbClr val="0D3D3A"/>
            </a:solidFill>
            <a:prstDash val="solid"/>
          </a:ln>
        </p:spPr>
      </p:sp>
      <p:sp>
        <p:nvSpPr>
          <p:cNvPr id="31" name="Text 29"/>
          <p:cNvSpPr/>
          <p:nvPr/>
        </p:nvSpPr>
        <p:spPr>
          <a:xfrm>
            <a:off x="4480560" y="2493684"/>
            <a:ext cx="182880" cy="182880"/>
          </a:xfrm>
          <a:prstGeom prst="rect">
            <a:avLst/>
          </a:prstGeom>
          <a:noFill/>
          <a:ln/>
        </p:spPr>
        <p:txBody>
          <a:bodyPr wrap="square" lIns="0" tIns="0" rIns="0" bIns="0" rtlCol="0" anchor="ctr"/>
          <a:lstStyle/>
          <a:p>
            <a:pPr marL="0" indent="0" algn="ctr">
              <a:buNone/>
            </a:pPr>
            <a:r>
              <a:rPr lang="en-US" sz="1000" dirty="0">
                <a:solidFill>
                  <a:srgbClr val="0D3D3A"/>
                </a:solidFill>
              </a:rPr>
              <a:t>▲</a:t>
            </a:r>
            <a:endParaRPr lang="en-US" sz="1000" dirty="0"/>
          </a:p>
        </p:txBody>
      </p:sp>
      <p:sp>
        <p:nvSpPr>
          <p:cNvPr id="32" name="Text 30"/>
          <p:cNvSpPr/>
          <p:nvPr/>
        </p:nvSpPr>
        <p:spPr>
          <a:xfrm>
            <a:off x="4480560" y="2777148"/>
            <a:ext cx="182880" cy="182880"/>
          </a:xfrm>
          <a:prstGeom prst="rect">
            <a:avLst/>
          </a:prstGeom>
          <a:noFill/>
          <a:ln/>
        </p:spPr>
        <p:txBody>
          <a:bodyPr wrap="square" lIns="0" tIns="0" rIns="0" bIns="0" rtlCol="0" anchor="ctr"/>
          <a:lstStyle/>
          <a:p>
            <a:pPr marL="0" indent="0" algn="ctr">
              <a:buNone/>
            </a:pPr>
            <a:r>
              <a:rPr lang="en-US" sz="1000" dirty="0">
                <a:solidFill>
                  <a:srgbClr val="0D3D3A"/>
                </a:solidFill>
              </a:rPr>
              <a:t>▼</a:t>
            </a:r>
            <a:endParaRPr lang="en-US" sz="1000" dirty="0"/>
          </a:p>
        </p:txBody>
      </p:sp>
      <p:sp>
        <p:nvSpPr>
          <p:cNvPr id="33" name="Shape 31"/>
          <p:cNvSpPr/>
          <p:nvPr/>
        </p:nvSpPr>
        <p:spPr>
          <a:xfrm>
            <a:off x="3863340" y="2978316"/>
            <a:ext cx="1417320" cy="640080"/>
          </a:xfrm>
          <a:prstGeom prst="roundRect">
            <a:avLst>
              <a:gd name="adj" fmla="val 17143"/>
            </a:avLst>
          </a:prstGeom>
          <a:solidFill>
            <a:srgbClr val="FFFFFF"/>
          </a:solidFill>
          <a:ln w="25400">
            <a:solidFill>
              <a:srgbClr val="0D3D3A"/>
            </a:solidFill>
            <a:prstDash val="solid"/>
          </a:ln>
        </p:spPr>
      </p:sp>
      <p:sp>
        <p:nvSpPr>
          <p:cNvPr id="34" name="Text 32"/>
          <p:cNvSpPr/>
          <p:nvPr/>
        </p:nvSpPr>
        <p:spPr>
          <a:xfrm>
            <a:off x="3863340" y="2978316"/>
            <a:ext cx="1417320" cy="640080"/>
          </a:xfrm>
          <a:prstGeom prst="rect">
            <a:avLst/>
          </a:prstGeom>
          <a:noFill/>
          <a:ln/>
        </p:spPr>
        <p:txBody>
          <a:bodyPr wrap="square" lIns="50800" tIns="50800" rIns="50800" bIns="50800" rtlCol="0" anchor="ctr"/>
          <a:lstStyle/>
          <a:p>
            <a:pPr marL="0" indent="0" algn="ctr">
              <a:buNone/>
            </a:pPr>
            <a:r>
              <a:rPr lang="en-US" sz="1300" dirty="0">
                <a:solidFill>
                  <a:srgbClr val="0D3D3A"/>
                </a:solidFill>
                <a:latin typeface="Calibri" pitchFamily="34" charset="0"/>
                <a:ea typeface="Calibri" pitchFamily="34" charset="-122"/>
                <a:cs typeface="Calibri" pitchFamily="34" charset="-120"/>
              </a:rPr>
              <a:t>EfficientNet</a:t>
            </a:r>
            <a:endParaRPr lang="en-US" sz="1300" dirty="0"/>
          </a:p>
          <a:p>
            <a:pPr marL="0" indent="0" algn="ctr">
              <a:buNone/>
            </a:pPr>
            <a:r>
              <a:rPr lang="en-US" sz="1300" dirty="0">
                <a:solidFill>
                  <a:srgbClr val="0D3D3A"/>
                </a:solidFill>
                <a:latin typeface="Calibri" pitchFamily="34" charset="0"/>
                <a:ea typeface="Calibri" pitchFamily="34" charset="-122"/>
                <a:cs typeface="Calibri" pitchFamily="34" charset="-120"/>
              </a:rPr>
              <a:t>Transfer Learning</a:t>
            </a:r>
            <a:endParaRPr lang="en-US" sz="1300" dirty="0"/>
          </a:p>
        </p:txBody>
      </p:sp>
      <p:sp>
        <p:nvSpPr>
          <p:cNvPr id="35" name="Shape 33"/>
          <p:cNvSpPr/>
          <p:nvPr/>
        </p:nvSpPr>
        <p:spPr>
          <a:xfrm>
            <a:off x="4572000" y="3654972"/>
            <a:ext cx="0" cy="338328"/>
          </a:xfrm>
          <a:prstGeom prst="line">
            <a:avLst/>
          </a:prstGeom>
          <a:noFill/>
          <a:ln w="25400">
            <a:solidFill>
              <a:srgbClr val="0D3D3A"/>
            </a:solidFill>
            <a:prstDash val="solid"/>
          </a:ln>
        </p:spPr>
      </p:sp>
      <p:sp>
        <p:nvSpPr>
          <p:cNvPr id="36" name="Text 34"/>
          <p:cNvSpPr/>
          <p:nvPr/>
        </p:nvSpPr>
        <p:spPr>
          <a:xfrm>
            <a:off x="4480560" y="3636684"/>
            <a:ext cx="182880" cy="182880"/>
          </a:xfrm>
          <a:prstGeom prst="rect">
            <a:avLst/>
          </a:prstGeom>
          <a:noFill/>
          <a:ln/>
        </p:spPr>
        <p:txBody>
          <a:bodyPr wrap="square" lIns="0" tIns="0" rIns="0" bIns="0" rtlCol="0" anchor="ctr"/>
          <a:lstStyle/>
          <a:p>
            <a:pPr marL="0" indent="0" algn="ctr">
              <a:buNone/>
            </a:pPr>
            <a:r>
              <a:rPr lang="en-US" sz="1000" dirty="0">
                <a:solidFill>
                  <a:srgbClr val="0D3D3A"/>
                </a:solidFill>
              </a:rPr>
              <a:t>▲</a:t>
            </a:r>
            <a:endParaRPr lang="en-US" sz="1000" dirty="0"/>
          </a:p>
        </p:txBody>
      </p:sp>
      <p:sp>
        <p:nvSpPr>
          <p:cNvPr id="37" name="Text 35"/>
          <p:cNvSpPr/>
          <p:nvPr/>
        </p:nvSpPr>
        <p:spPr>
          <a:xfrm>
            <a:off x="4480560" y="3828708"/>
            <a:ext cx="182880" cy="182880"/>
          </a:xfrm>
          <a:prstGeom prst="rect">
            <a:avLst/>
          </a:prstGeom>
          <a:noFill/>
          <a:ln/>
        </p:spPr>
        <p:txBody>
          <a:bodyPr wrap="square" lIns="0" tIns="0" rIns="0" bIns="0" rtlCol="0" anchor="ctr"/>
          <a:lstStyle/>
          <a:p>
            <a:pPr marL="0" indent="0" algn="ctr">
              <a:buNone/>
            </a:pPr>
            <a:r>
              <a:rPr lang="en-US" sz="1000" dirty="0">
                <a:solidFill>
                  <a:srgbClr val="0D3D3A"/>
                </a:solidFill>
              </a:rPr>
              <a:t>▼</a:t>
            </a:r>
            <a:endParaRPr lang="en-US" sz="1000" dirty="0"/>
          </a:p>
        </p:txBody>
      </p:sp>
      <p:sp>
        <p:nvSpPr>
          <p:cNvPr id="38" name="Shape 36"/>
          <p:cNvSpPr/>
          <p:nvPr/>
        </p:nvSpPr>
        <p:spPr>
          <a:xfrm>
            <a:off x="3771900" y="4029876"/>
            <a:ext cx="1600200" cy="640080"/>
          </a:xfrm>
          <a:prstGeom prst="roundRect">
            <a:avLst>
              <a:gd name="adj" fmla="val 17143"/>
            </a:avLst>
          </a:prstGeom>
          <a:solidFill>
            <a:srgbClr val="FFFFFF"/>
          </a:solidFill>
          <a:ln w="25400">
            <a:solidFill>
              <a:srgbClr val="0D3D3A"/>
            </a:solidFill>
            <a:prstDash val="solid"/>
          </a:ln>
        </p:spPr>
      </p:sp>
      <p:sp>
        <p:nvSpPr>
          <p:cNvPr id="39" name="Text 37"/>
          <p:cNvSpPr/>
          <p:nvPr/>
        </p:nvSpPr>
        <p:spPr>
          <a:xfrm>
            <a:off x="3771900" y="4029876"/>
            <a:ext cx="1600200" cy="640080"/>
          </a:xfrm>
          <a:prstGeom prst="rect">
            <a:avLst/>
          </a:prstGeom>
          <a:noFill/>
          <a:ln/>
        </p:spPr>
        <p:txBody>
          <a:bodyPr wrap="square" lIns="50800" tIns="50800" rIns="50800" bIns="50800" rtlCol="0" anchor="ctr"/>
          <a:lstStyle/>
          <a:p>
            <a:pPr marL="0" indent="0" algn="ctr">
              <a:buNone/>
            </a:pPr>
            <a:r>
              <a:rPr lang="en-US" sz="1300" dirty="0">
                <a:solidFill>
                  <a:srgbClr val="0D3D3A"/>
                </a:solidFill>
                <a:latin typeface="Calibri" pitchFamily="34" charset="0"/>
                <a:ea typeface="Calibri" pitchFamily="34" charset="-122"/>
                <a:cs typeface="Calibri" pitchFamily="34" charset="-120"/>
              </a:rPr>
              <a:t>ISIC</a:t>
            </a:r>
            <a:endParaRPr lang="en-US" sz="1300" dirty="0"/>
          </a:p>
          <a:p>
            <a:pPr marL="0" indent="0" algn="ctr">
              <a:buNone/>
            </a:pPr>
            <a:r>
              <a:rPr lang="en-US" sz="1300" dirty="0">
                <a:solidFill>
                  <a:srgbClr val="0D3D3A"/>
                </a:solidFill>
                <a:latin typeface="Calibri" pitchFamily="34" charset="0"/>
                <a:ea typeface="Calibri" pitchFamily="34" charset="-122"/>
                <a:cs typeface="Calibri" pitchFamily="34" charset="-120"/>
              </a:rPr>
              <a:t>Dataset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457200" y="210312"/>
            <a:ext cx="8412480" cy="475488"/>
          </a:xfrm>
          <a:prstGeom prst="rect">
            <a:avLst/>
          </a:prstGeom>
          <a:noFill/>
          <a:ln/>
        </p:spPr>
        <p:txBody>
          <a:bodyPr wrap="square" lIns="0" tIns="0" rIns="0" bIns="0" rtlCol="0" anchor="ctr"/>
          <a:lstStyle/>
          <a:p>
            <a:pPr marL="0" indent="0">
              <a:buNone/>
            </a:pPr>
            <a:r>
              <a:rPr lang="en-US" sz="2400" b="1" dirty="0">
                <a:latin typeface="Trebuchet MS" pitchFamily="34" charset="0"/>
                <a:ea typeface="Trebuchet MS" pitchFamily="34" charset="-122"/>
                <a:cs typeface="Trebuchet MS" pitchFamily="34" charset="-120"/>
              </a:rPr>
              <a:t>Research Timeline  ·  April – November 2026 (Weekly)</a:t>
            </a:r>
            <a:endParaRPr lang="en-US" sz="2400" dirty="0"/>
          </a:p>
        </p:txBody>
      </p:sp>
      <p:sp>
        <p:nvSpPr>
          <p:cNvPr id="6" name="Text 4"/>
          <p:cNvSpPr/>
          <p:nvPr/>
        </p:nvSpPr>
        <p:spPr>
          <a:xfrm>
            <a:off x="274320" y="4919472"/>
            <a:ext cx="7772400" cy="224028"/>
          </a:xfrm>
          <a:prstGeom prst="rect">
            <a:avLst/>
          </a:prstGeom>
          <a:noFill/>
          <a:ln/>
        </p:spPr>
        <p:txBody>
          <a:bodyPr wrap="square" lIns="0" tIns="0" rIns="0" bIns="0" rtlCol="0" anchor="ctr"/>
          <a:lstStyle/>
          <a:p>
            <a:pPr marL="0" indent="0">
              <a:buNone/>
            </a:pPr>
            <a:r>
              <a:rPr lang="en-US" sz="1200" dirty="0"/>
              <a:t>AI Skin Disease Classifier</a:t>
            </a:r>
          </a:p>
        </p:txBody>
      </p:sp>
      <p:sp>
        <p:nvSpPr>
          <p:cNvPr id="7" name="Text 5"/>
          <p:cNvSpPr/>
          <p:nvPr/>
        </p:nvSpPr>
        <p:spPr>
          <a:xfrm>
            <a:off x="7955280" y="4919472"/>
            <a:ext cx="1005840" cy="224028"/>
          </a:xfrm>
          <a:prstGeom prst="rect">
            <a:avLst/>
          </a:prstGeom>
          <a:noFill/>
          <a:ln/>
        </p:spPr>
        <p:txBody>
          <a:bodyPr wrap="square" lIns="0" tIns="0" rIns="0" bIns="0" rtlCol="0" anchor="ctr"/>
          <a:lstStyle/>
          <a:p>
            <a:pPr marL="0" indent="0" algn="r">
              <a:buNone/>
            </a:pPr>
            <a:r>
              <a:rPr lang="en-US" sz="1300" b="1" dirty="0"/>
              <a:t>13 / 14</a:t>
            </a:r>
            <a:endParaRPr lang="en-US" sz="1300" dirty="0"/>
          </a:p>
        </p:txBody>
      </p:sp>
      <p:sp>
        <p:nvSpPr>
          <p:cNvPr id="9" name="Text 7"/>
          <p:cNvSpPr/>
          <p:nvPr/>
        </p:nvSpPr>
        <p:spPr>
          <a:xfrm>
            <a:off x="2395728" y="566928"/>
            <a:ext cx="792099" cy="237744"/>
          </a:xfrm>
          <a:prstGeom prst="rect">
            <a:avLst/>
          </a:prstGeom>
          <a:noFill/>
          <a:ln/>
        </p:spPr>
        <p:txBody>
          <a:bodyPr wrap="square" lIns="0" tIns="0" rIns="0" bIns="0" rtlCol="0" anchor="ctr"/>
          <a:lstStyle/>
          <a:p>
            <a:pPr marL="0" indent="0" algn="ctr">
              <a:buNone/>
            </a:pPr>
            <a:r>
              <a:rPr lang="en-US" sz="800" b="1" dirty="0">
                <a:solidFill>
                  <a:srgbClr val="FFFFFF"/>
                </a:solidFill>
              </a:rPr>
              <a:t>APR</a:t>
            </a:r>
            <a:endParaRPr lang="en-US" sz="800" dirty="0"/>
          </a:p>
        </p:txBody>
      </p:sp>
      <p:sp>
        <p:nvSpPr>
          <p:cNvPr id="11" name="Text 9"/>
          <p:cNvSpPr/>
          <p:nvPr/>
        </p:nvSpPr>
        <p:spPr>
          <a:xfrm>
            <a:off x="3187827" y="566928"/>
            <a:ext cx="792099" cy="237744"/>
          </a:xfrm>
          <a:prstGeom prst="rect">
            <a:avLst/>
          </a:prstGeom>
          <a:noFill/>
          <a:ln/>
        </p:spPr>
        <p:txBody>
          <a:bodyPr wrap="square" lIns="0" tIns="0" rIns="0" bIns="0" rtlCol="0" anchor="ctr"/>
          <a:lstStyle/>
          <a:p>
            <a:pPr marL="0" indent="0" algn="ctr">
              <a:buNone/>
            </a:pPr>
            <a:r>
              <a:rPr lang="en-US" sz="800" b="1" dirty="0">
                <a:solidFill>
                  <a:srgbClr val="FFFFFF"/>
                </a:solidFill>
              </a:rPr>
              <a:t>MAY</a:t>
            </a:r>
            <a:endParaRPr lang="en-US" sz="800" dirty="0"/>
          </a:p>
        </p:txBody>
      </p:sp>
      <p:sp>
        <p:nvSpPr>
          <p:cNvPr id="21" name="Text 19"/>
          <p:cNvSpPr/>
          <p:nvPr/>
        </p:nvSpPr>
        <p:spPr>
          <a:xfrm>
            <a:off x="7148322" y="566928"/>
            <a:ext cx="792099" cy="237744"/>
          </a:xfrm>
          <a:prstGeom prst="rect">
            <a:avLst/>
          </a:prstGeom>
          <a:noFill/>
          <a:ln/>
        </p:spPr>
        <p:txBody>
          <a:bodyPr wrap="square" lIns="0" tIns="0" rIns="0" bIns="0" rtlCol="0" anchor="ctr"/>
          <a:lstStyle/>
          <a:p>
            <a:pPr marL="0" indent="0" algn="ctr">
              <a:buNone/>
            </a:pPr>
            <a:r>
              <a:rPr lang="en-US" sz="800" b="1" dirty="0">
                <a:solidFill>
                  <a:srgbClr val="FFFFFF"/>
                </a:solidFill>
              </a:rPr>
              <a:t>OCT</a:t>
            </a:r>
            <a:endParaRPr lang="en-US" sz="800" dirty="0"/>
          </a:p>
        </p:txBody>
      </p:sp>
      <p:sp>
        <p:nvSpPr>
          <p:cNvPr id="23" name="Text 21"/>
          <p:cNvSpPr/>
          <p:nvPr/>
        </p:nvSpPr>
        <p:spPr>
          <a:xfrm>
            <a:off x="7940421" y="566928"/>
            <a:ext cx="792099" cy="237744"/>
          </a:xfrm>
          <a:prstGeom prst="rect">
            <a:avLst/>
          </a:prstGeom>
          <a:noFill/>
          <a:ln/>
        </p:spPr>
        <p:txBody>
          <a:bodyPr wrap="square" lIns="0" tIns="0" rIns="0" bIns="0" rtlCol="0" anchor="ctr"/>
          <a:lstStyle/>
          <a:p>
            <a:pPr marL="0" indent="0" algn="ctr">
              <a:buNone/>
            </a:pPr>
            <a:r>
              <a:rPr lang="en-US" sz="800" b="1" dirty="0">
                <a:solidFill>
                  <a:srgbClr val="FFFFFF"/>
                </a:solidFill>
              </a:rPr>
              <a:t>NOV</a:t>
            </a:r>
            <a:endParaRPr lang="en-US" sz="800" dirty="0"/>
          </a:p>
        </p:txBody>
      </p:sp>
      <p:graphicFrame>
        <p:nvGraphicFramePr>
          <p:cNvPr id="2" name="Content Placeholder 5">
            <a:extLst>
              <a:ext uri="{FF2B5EF4-FFF2-40B4-BE49-F238E27FC236}">
                <a16:creationId xmlns:a16="http://schemas.microsoft.com/office/drawing/2014/main" id="{6E7B17B6-DAC9-D45F-4AD0-C0C7AC93EB32}"/>
              </a:ext>
            </a:extLst>
          </p:cNvPr>
          <p:cNvGraphicFramePr>
            <a:graphicFrameLocks/>
          </p:cNvGraphicFramePr>
          <p:nvPr>
            <p:extLst>
              <p:ext uri="{D42A27DB-BD31-4B8C-83A1-F6EECF244321}">
                <p14:modId xmlns:p14="http://schemas.microsoft.com/office/powerpoint/2010/main" val="1026046100"/>
              </p:ext>
            </p:extLst>
          </p:nvPr>
        </p:nvGraphicFramePr>
        <p:xfrm>
          <a:off x="1203578" y="804672"/>
          <a:ext cx="6392489" cy="3479942"/>
        </p:xfrm>
        <a:graphic>
          <a:graphicData uri="http://schemas.openxmlformats.org/drawingml/2006/table">
            <a:tbl>
              <a:tblPr firstRow="1" bandRow="1"/>
              <a:tblGrid>
                <a:gridCol w="1104105">
                  <a:extLst>
                    <a:ext uri="{9D8B030D-6E8A-4147-A177-3AD203B41FA5}">
                      <a16:colId xmlns:a16="http://schemas.microsoft.com/office/drawing/2014/main" val="3940998315"/>
                    </a:ext>
                  </a:extLst>
                </a:gridCol>
                <a:gridCol w="165262">
                  <a:extLst>
                    <a:ext uri="{9D8B030D-6E8A-4147-A177-3AD203B41FA5}">
                      <a16:colId xmlns:a16="http://schemas.microsoft.com/office/drawing/2014/main" val="3462577345"/>
                    </a:ext>
                  </a:extLst>
                </a:gridCol>
                <a:gridCol w="165262">
                  <a:extLst>
                    <a:ext uri="{9D8B030D-6E8A-4147-A177-3AD203B41FA5}">
                      <a16:colId xmlns:a16="http://schemas.microsoft.com/office/drawing/2014/main" val="325598100"/>
                    </a:ext>
                  </a:extLst>
                </a:gridCol>
                <a:gridCol w="165262">
                  <a:extLst>
                    <a:ext uri="{9D8B030D-6E8A-4147-A177-3AD203B41FA5}">
                      <a16:colId xmlns:a16="http://schemas.microsoft.com/office/drawing/2014/main" val="3967897732"/>
                    </a:ext>
                  </a:extLst>
                </a:gridCol>
                <a:gridCol w="165262">
                  <a:extLst>
                    <a:ext uri="{9D8B030D-6E8A-4147-A177-3AD203B41FA5}">
                      <a16:colId xmlns:a16="http://schemas.microsoft.com/office/drawing/2014/main" val="1492757954"/>
                    </a:ext>
                  </a:extLst>
                </a:gridCol>
                <a:gridCol w="165262">
                  <a:extLst>
                    <a:ext uri="{9D8B030D-6E8A-4147-A177-3AD203B41FA5}">
                      <a16:colId xmlns:a16="http://schemas.microsoft.com/office/drawing/2014/main" val="4075335010"/>
                    </a:ext>
                  </a:extLst>
                </a:gridCol>
                <a:gridCol w="165262">
                  <a:extLst>
                    <a:ext uri="{9D8B030D-6E8A-4147-A177-3AD203B41FA5}">
                      <a16:colId xmlns:a16="http://schemas.microsoft.com/office/drawing/2014/main" val="2069316619"/>
                    </a:ext>
                  </a:extLst>
                </a:gridCol>
                <a:gridCol w="165262">
                  <a:extLst>
                    <a:ext uri="{9D8B030D-6E8A-4147-A177-3AD203B41FA5}">
                      <a16:colId xmlns:a16="http://schemas.microsoft.com/office/drawing/2014/main" val="1907490703"/>
                    </a:ext>
                  </a:extLst>
                </a:gridCol>
                <a:gridCol w="165262">
                  <a:extLst>
                    <a:ext uri="{9D8B030D-6E8A-4147-A177-3AD203B41FA5}">
                      <a16:colId xmlns:a16="http://schemas.microsoft.com/office/drawing/2014/main" val="2449953547"/>
                    </a:ext>
                  </a:extLst>
                </a:gridCol>
                <a:gridCol w="165262">
                  <a:extLst>
                    <a:ext uri="{9D8B030D-6E8A-4147-A177-3AD203B41FA5}">
                      <a16:colId xmlns:a16="http://schemas.microsoft.com/office/drawing/2014/main" val="3286132170"/>
                    </a:ext>
                  </a:extLst>
                </a:gridCol>
                <a:gridCol w="165262">
                  <a:extLst>
                    <a:ext uri="{9D8B030D-6E8A-4147-A177-3AD203B41FA5}">
                      <a16:colId xmlns:a16="http://schemas.microsoft.com/office/drawing/2014/main" val="1181306580"/>
                    </a:ext>
                  </a:extLst>
                </a:gridCol>
                <a:gridCol w="165262">
                  <a:extLst>
                    <a:ext uri="{9D8B030D-6E8A-4147-A177-3AD203B41FA5}">
                      <a16:colId xmlns:a16="http://schemas.microsoft.com/office/drawing/2014/main" val="1943013910"/>
                    </a:ext>
                  </a:extLst>
                </a:gridCol>
                <a:gridCol w="165262">
                  <a:extLst>
                    <a:ext uri="{9D8B030D-6E8A-4147-A177-3AD203B41FA5}">
                      <a16:colId xmlns:a16="http://schemas.microsoft.com/office/drawing/2014/main" val="412172414"/>
                    </a:ext>
                  </a:extLst>
                </a:gridCol>
                <a:gridCol w="165262">
                  <a:extLst>
                    <a:ext uri="{9D8B030D-6E8A-4147-A177-3AD203B41FA5}">
                      <a16:colId xmlns:a16="http://schemas.microsoft.com/office/drawing/2014/main" val="1433505317"/>
                    </a:ext>
                  </a:extLst>
                </a:gridCol>
                <a:gridCol w="165262">
                  <a:extLst>
                    <a:ext uri="{9D8B030D-6E8A-4147-A177-3AD203B41FA5}">
                      <a16:colId xmlns:a16="http://schemas.microsoft.com/office/drawing/2014/main" val="2496588075"/>
                    </a:ext>
                  </a:extLst>
                </a:gridCol>
                <a:gridCol w="165262">
                  <a:extLst>
                    <a:ext uri="{9D8B030D-6E8A-4147-A177-3AD203B41FA5}">
                      <a16:colId xmlns:a16="http://schemas.microsoft.com/office/drawing/2014/main" val="2437822092"/>
                    </a:ext>
                  </a:extLst>
                </a:gridCol>
                <a:gridCol w="165262">
                  <a:extLst>
                    <a:ext uri="{9D8B030D-6E8A-4147-A177-3AD203B41FA5}">
                      <a16:colId xmlns:a16="http://schemas.microsoft.com/office/drawing/2014/main" val="1537157703"/>
                    </a:ext>
                  </a:extLst>
                </a:gridCol>
                <a:gridCol w="165262">
                  <a:extLst>
                    <a:ext uri="{9D8B030D-6E8A-4147-A177-3AD203B41FA5}">
                      <a16:colId xmlns:a16="http://schemas.microsoft.com/office/drawing/2014/main" val="4172682794"/>
                    </a:ext>
                  </a:extLst>
                </a:gridCol>
                <a:gridCol w="165262">
                  <a:extLst>
                    <a:ext uri="{9D8B030D-6E8A-4147-A177-3AD203B41FA5}">
                      <a16:colId xmlns:a16="http://schemas.microsoft.com/office/drawing/2014/main" val="483278055"/>
                    </a:ext>
                  </a:extLst>
                </a:gridCol>
                <a:gridCol w="165262">
                  <a:extLst>
                    <a:ext uri="{9D8B030D-6E8A-4147-A177-3AD203B41FA5}">
                      <a16:colId xmlns:a16="http://schemas.microsoft.com/office/drawing/2014/main" val="3853733804"/>
                    </a:ext>
                  </a:extLst>
                </a:gridCol>
                <a:gridCol w="165262">
                  <a:extLst>
                    <a:ext uri="{9D8B030D-6E8A-4147-A177-3AD203B41FA5}">
                      <a16:colId xmlns:a16="http://schemas.microsoft.com/office/drawing/2014/main" val="2520459465"/>
                    </a:ext>
                  </a:extLst>
                </a:gridCol>
                <a:gridCol w="165262">
                  <a:extLst>
                    <a:ext uri="{9D8B030D-6E8A-4147-A177-3AD203B41FA5}">
                      <a16:colId xmlns:a16="http://schemas.microsoft.com/office/drawing/2014/main" val="653056365"/>
                    </a:ext>
                  </a:extLst>
                </a:gridCol>
                <a:gridCol w="165262">
                  <a:extLst>
                    <a:ext uri="{9D8B030D-6E8A-4147-A177-3AD203B41FA5}">
                      <a16:colId xmlns:a16="http://schemas.microsoft.com/office/drawing/2014/main" val="566194959"/>
                    </a:ext>
                  </a:extLst>
                </a:gridCol>
                <a:gridCol w="165262">
                  <a:extLst>
                    <a:ext uri="{9D8B030D-6E8A-4147-A177-3AD203B41FA5}">
                      <a16:colId xmlns:a16="http://schemas.microsoft.com/office/drawing/2014/main" val="3805316512"/>
                    </a:ext>
                  </a:extLst>
                </a:gridCol>
                <a:gridCol w="165262">
                  <a:extLst>
                    <a:ext uri="{9D8B030D-6E8A-4147-A177-3AD203B41FA5}">
                      <a16:colId xmlns:a16="http://schemas.microsoft.com/office/drawing/2014/main" val="3241538144"/>
                    </a:ext>
                  </a:extLst>
                </a:gridCol>
                <a:gridCol w="165262">
                  <a:extLst>
                    <a:ext uri="{9D8B030D-6E8A-4147-A177-3AD203B41FA5}">
                      <a16:colId xmlns:a16="http://schemas.microsoft.com/office/drawing/2014/main" val="272810021"/>
                    </a:ext>
                  </a:extLst>
                </a:gridCol>
                <a:gridCol w="165262">
                  <a:extLst>
                    <a:ext uri="{9D8B030D-6E8A-4147-A177-3AD203B41FA5}">
                      <a16:colId xmlns:a16="http://schemas.microsoft.com/office/drawing/2014/main" val="1327475442"/>
                    </a:ext>
                  </a:extLst>
                </a:gridCol>
                <a:gridCol w="165262">
                  <a:extLst>
                    <a:ext uri="{9D8B030D-6E8A-4147-A177-3AD203B41FA5}">
                      <a16:colId xmlns:a16="http://schemas.microsoft.com/office/drawing/2014/main" val="3309390218"/>
                    </a:ext>
                  </a:extLst>
                </a:gridCol>
                <a:gridCol w="165262">
                  <a:extLst>
                    <a:ext uri="{9D8B030D-6E8A-4147-A177-3AD203B41FA5}">
                      <a16:colId xmlns:a16="http://schemas.microsoft.com/office/drawing/2014/main" val="1795028592"/>
                    </a:ext>
                  </a:extLst>
                </a:gridCol>
                <a:gridCol w="165262">
                  <a:extLst>
                    <a:ext uri="{9D8B030D-6E8A-4147-A177-3AD203B41FA5}">
                      <a16:colId xmlns:a16="http://schemas.microsoft.com/office/drawing/2014/main" val="1329581102"/>
                    </a:ext>
                  </a:extLst>
                </a:gridCol>
                <a:gridCol w="165262">
                  <a:extLst>
                    <a:ext uri="{9D8B030D-6E8A-4147-A177-3AD203B41FA5}">
                      <a16:colId xmlns:a16="http://schemas.microsoft.com/office/drawing/2014/main" val="1228959812"/>
                    </a:ext>
                  </a:extLst>
                </a:gridCol>
                <a:gridCol w="165262">
                  <a:extLst>
                    <a:ext uri="{9D8B030D-6E8A-4147-A177-3AD203B41FA5}">
                      <a16:colId xmlns:a16="http://schemas.microsoft.com/office/drawing/2014/main" val="1646032034"/>
                    </a:ext>
                  </a:extLst>
                </a:gridCol>
                <a:gridCol w="165262">
                  <a:extLst>
                    <a:ext uri="{9D8B030D-6E8A-4147-A177-3AD203B41FA5}">
                      <a16:colId xmlns:a16="http://schemas.microsoft.com/office/drawing/2014/main" val="3401693830"/>
                    </a:ext>
                  </a:extLst>
                </a:gridCol>
              </a:tblGrid>
              <a:tr h="389919">
                <a:tc>
                  <a:txBody>
                    <a:bodyPr/>
                    <a:lstStyle/>
                    <a:p>
                      <a:pPr>
                        <a:lnSpc>
                          <a:spcPct val="115000"/>
                        </a:lnSpc>
                        <a:spcAft>
                          <a:spcPts val="800"/>
                        </a:spcAft>
                        <a:buNone/>
                      </a:pPr>
                      <a:r>
                        <a:rPr lang="en-GB" sz="1100" b="1" kern="0" dirty="0">
                          <a:solidFill>
                            <a:srgbClr val="FFFFFF"/>
                          </a:solidFill>
                          <a:effectLst/>
                          <a:latin typeface="Century Gothic" panose="020B0502020202020204" pitchFamily="34" charset="0"/>
                          <a:ea typeface="Times New Roman" panose="02020603050405020304" pitchFamily="18" charset="0"/>
                          <a:cs typeface="Calibri" panose="020F0502020204030204" pitchFamily="34" charset="0"/>
                        </a:rPr>
                        <a:t>ACTIVITY</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gridSpan="4">
                  <a:txBody>
                    <a:bodyPr/>
                    <a:lstStyle/>
                    <a:p>
                      <a:pPr>
                        <a:lnSpc>
                          <a:spcPct val="115000"/>
                        </a:lnSpc>
                        <a:spcAft>
                          <a:spcPts val="800"/>
                        </a:spcAft>
                        <a:buNone/>
                      </a:pPr>
                      <a:r>
                        <a:rPr lang="en-GB" sz="1100" b="1" kern="0">
                          <a:solidFill>
                            <a:srgbClr val="FFFFFF"/>
                          </a:solidFill>
                          <a:effectLst/>
                          <a:latin typeface="Century Gothic" panose="020B0502020202020204" pitchFamily="34" charset="0"/>
                          <a:ea typeface="Times New Roman" panose="02020603050405020304" pitchFamily="18" charset="0"/>
                          <a:cs typeface="Calibri" panose="020F0502020204030204" pitchFamily="34" charset="0"/>
                        </a:rPr>
                        <a:t>APRIL</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nSpc>
                          <a:spcPct val="115000"/>
                        </a:lnSpc>
                        <a:spcAft>
                          <a:spcPts val="800"/>
                        </a:spcAft>
                        <a:buNone/>
                      </a:pPr>
                      <a:r>
                        <a:rPr lang="en-GB" sz="1100" b="1" kern="0">
                          <a:solidFill>
                            <a:srgbClr val="FFFFFF"/>
                          </a:solidFill>
                          <a:effectLst/>
                          <a:latin typeface="Century Gothic" panose="020B0502020202020204" pitchFamily="34" charset="0"/>
                          <a:ea typeface="Times New Roman" panose="02020603050405020304" pitchFamily="18" charset="0"/>
                          <a:cs typeface="Calibri" panose="020F0502020204030204" pitchFamily="34" charset="0"/>
                        </a:rPr>
                        <a:t>MAY</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nSpc>
                          <a:spcPct val="115000"/>
                        </a:lnSpc>
                        <a:spcAft>
                          <a:spcPts val="800"/>
                        </a:spcAft>
                        <a:buNone/>
                      </a:pPr>
                      <a:r>
                        <a:rPr lang="en-GB" sz="1100" b="1" kern="0" dirty="0">
                          <a:solidFill>
                            <a:srgbClr val="FFFFFF"/>
                          </a:solidFill>
                          <a:effectLst/>
                          <a:latin typeface="Century Gothic" panose="020B0502020202020204" pitchFamily="34" charset="0"/>
                          <a:ea typeface="Times New Roman" panose="02020603050405020304" pitchFamily="18" charset="0"/>
                          <a:cs typeface="Calibri" panose="020F0502020204030204" pitchFamily="34" charset="0"/>
                        </a:rPr>
                        <a:t>JUNE</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nSpc>
                          <a:spcPct val="115000"/>
                        </a:lnSpc>
                        <a:spcAft>
                          <a:spcPts val="800"/>
                        </a:spcAft>
                        <a:buNone/>
                      </a:pPr>
                      <a:r>
                        <a:rPr lang="en-GB" sz="1100" b="1" kern="0">
                          <a:solidFill>
                            <a:srgbClr val="FFFFFF"/>
                          </a:solidFill>
                          <a:effectLst/>
                          <a:latin typeface="Century Gothic" panose="020B0502020202020204" pitchFamily="34" charset="0"/>
                          <a:ea typeface="Times New Roman" panose="02020603050405020304" pitchFamily="18" charset="0"/>
                          <a:cs typeface="Calibri" panose="020F0502020204030204" pitchFamily="34" charset="0"/>
                        </a:rPr>
                        <a:t>JULY</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nSpc>
                          <a:spcPct val="115000"/>
                        </a:lnSpc>
                        <a:spcAft>
                          <a:spcPts val="800"/>
                        </a:spcAft>
                        <a:buNone/>
                      </a:pPr>
                      <a:r>
                        <a:rPr lang="en-GB" sz="1100" b="1" kern="0">
                          <a:solidFill>
                            <a:srgbClr val="FFFFFF"/>
                          </a:solidFill>
                          <a:effectLst/>
                          <a:latin typeface="Century Gothic" panose="020B0502020202020204" pitchFamily="34" charset="0"/>
                          <a:ea typeface="Times New Roman" panose="02020603050405020304" pitchFamily="18" charset="0"/>
                          <a:cs typeface="Calibri" panose="020F0502020204030204" pitchFamily="34" charset="0"/>
                        </a:rPr>
                        <a:t>AUGUST</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nSpc>
                          <a:spcPct val="115000"/>
                        </a:lnSpc>
                        <a:spcAft>
                          <a:spcPts val="800"/>
                        </a:spcAft>
                        <a:buNone/>
                      </a:pPr>
                      <a:r>
                        <a:rPr lang="en-GB" sz="800" b="1" kern="0" dirty="0">
                          <a:solidFill>
                            <a:srgbClr val="FFFFFF"/>
                          </a:solidFill>
                          <a:effectLst/>
                          <a:latin typeface="Century Gothic" panose="020B0502020202020204" pitchFamily="34" charset="0"/>
                          <a:ea typeface="Times New Roman" panose="02020603050405020304" pitchFamily="18" charset="0"/>
                          <a:cs typeface="Calibri" panose="020F0502020204030204" pitchFamily="34" charset="0"/>
                        </a:rPr>
                        <a:t>SEPTEMBER</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nSpc>
                          <a:spcPct val="115000"/>
                        </a:lnSpc>
                        <a:spcAft>
                          <a:spcPts val="800"/>
                        </a:spcAft>
                        <a:buNone/>
                      </a:pPr>
                      <a:r>
                        <a:rPr lang="en-GB" sz="800" b="1" kern="0" dirty="0">
                          <a:solidFill>
                            <a:srgbClr val="FFFFFF"/>
                          </a:solidFill>
                          <a:effectLst/>
                          <a:latin typeface="Century Gothic" panose="020B0502020202020204" pitchFamily="34" charset="0"/>
                          <a:ea typeface="Times New Roman" panose="02020603050405020304" pitchFamily="18" charset="0"/>
                          <a:cs typeface="Calibri" panose="020F0502020204030204" pitchFamily="34" charset="0"/>
                        </a:rPr>
                        <a:t>OCTOBER</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nSpc>
                          <a:spcPct val="115000"/>
                        </a:lnSpc>
                        <a:spcAft>
                          <a:spcPts val="800"/>
                        </a:spcAft>
                        <a:buNone/>
                      </a:pPr>
                      <a:r>
                        <a:rPr lang="en-GB" sz="700" b="1" kern="0" dirty="0">
                          <a:solidFill>
                            <a:srgbClr val="FFFFFF"/>
                          </a:solidFill>
                          <a:effectLst/>
                          <a:latin typeface="Century Gothic" panose="020B0502020202020204" pitchFamily="34" charset="0"/>
                          <a:ea typeface="Times New Roman" panose="02020603050405020304" pitchFamily="18" charset="0"/>
                          <a:cs typeface="Calibri" panose="020F0502020204030204" pitchFamily="34" charset="0"/>
                        </a:rPr>
                        <a:t>NOVEMBER</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936848271"/>
                  </a:ext>
                </a:extLst>
              </a:tr>
              <a:tr h="324246">
                <a:tc>
                  <a:txBody>
                    <a:bodyPr/>
                    <a:lstStyle/>
                    <a:p>
                      <a:pPr>
                        <a:lnSpc>
                          <a:spcPct val="115000"/>
                        </a:lnSpc>
                        <a:spcAft>
                          <a:spcPts val="800"/>
                        </a:spcAft>
                        <a:buNone/>
                      </a:pPr>
                      <a:r>
                        <a:rPr lang="en-GB" sz="11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WEEKS</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w1</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w2</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w3</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w4</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w1</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w2</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w3</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w4</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w1</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w2</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w3</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w4</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w1</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w2</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w3</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w4</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w1</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w2</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w3</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w4</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w1</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w2</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w3</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w4</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w1</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w2</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w3</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w4</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w1</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w2</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w3</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w4</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942590510"/>
                  </a:ext>
                </a:extLst>
              </a:tr>
              <a:tr h="318010">
                <a:tc>
                  <a:txBody>
                    <a:bodyPr/>
                    <a:lstStyle/>
                    <a:p>
                      <a:pPr>
                        <a:lnSpc>
                          <a:spcPct val="115000"/>
                        </a:lnSpc>
                        <a:spcAft>
                          <a:spcPts val="800"/>
                        </a:spcAft>
                        <a:buNone/>
                      </a:pPr>
                      <a:r>
                        <a:rPr lang="en-GB" sz="11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Proposal</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48235"/>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48235"/>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48235"/>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48235"/>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187632538"/>
                  </a:ext>
                </a:extLst>
              </a:tr>
              <a:tr h="629786">
                <a:tc>
                  <a:txBody>
                    <a:bodyPr/>
                    <a:lstStyle/>
                    <a:p>
                      <a:pPr>
                        <a:lnSpc>
                          <a:spcPct val="115000"/>
                        </a:lnSpc>
                        <a:spcAft>
                          <a:spcPts val="800"/>
                        </a:spcAft>
                        <a:buNone/>
                      </a:pPr>
                      <a:r>
                        <a:rPr lang="en-GB" sz="11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Literature Review</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31392593"/>
                  </a:ext>
                </a:extLst>
              </a:tr>
              <a:tr h="473899">
                <a:tc>
                  <a:txBody>
                    <a:bodyPr/>
                    <a:lstStyle/>
                    <a:p>
                      <a:pPr>
                        <a:lnSpc>
                          <a:spcPct val="115000"/>
                        </a:lnSpc>
                        <a:spcAft>
                          <a:spcPts val="800"/>
                        </a:spcAft>
                        <a:buNone/>
                      </a:pPr>
                      <a:r>
                        <a:rPr lang="en-GB" sz="11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Requirements</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4289431490"/>
                  </a:ext>
                </a:extLst>
              </a:tr>
              <a:tr h="318010">
                <a:tc>
                  <a:txBody>
                    <a:bodyPr/>
                    <a:lstStyle/>
                    <a:p>
                      <a:pPr>
                        <a:lnSpc>
                          <a:spcPct val="115000"/>
                        </a:lnSpc>
                        <a:spcAft>
                          <a:spcPts val="800"/>
                        </a:spcAft>
                        <a:buNone/>
                      </a:pPr>
                      <a:r>
                        <a:rPr lang="en-GB" sz="11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Design</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84889462"/>
                  </a:ext>
                </a:extLst>
              </a:tr>
              <a:tr h="318010">
                <a:tc>
                  <a:txBody>
                    <a:bodyPr/>
                    <a:lstStyle/>
                    <a:p>
                      <a:pPr>
                        <a:lnSpc>
                          <a:spcPct val="115000"/>
                        </a:lnSpc>
                        <a:spcAft>
                          <a:spcPts val="800"/>
                        </a:spcAft>
                        <a:buNone/>
                      </a:pPr>
                      <a:r>
                        <a:rPr lang="en-GB" sz="11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Coding</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4086199965"/>
                  </a:ext>
                </a:extLst>
              </a:tr>
              <a:tr h="318010">
                <a:tc>
                  <a:txBody>
                    <a:bodyPr/>
                    <a:lstStyle/>
                    <a:p>
                      <a:pPr>
                        <a:lnSpc>
                          <a:spcPct val="115000"/>
                        </a:lnSpc>
                        <a:spcAft>
                          <a:spcPts val="800"/>
                        </a:spcAft>
                        <a:buNone/>
                      </a:pPr>
                      <a:r>
                        <a:rPr lang="en-GB" sz="1100" kern="0" dirty="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Testing</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830886321"/>
                  </a:ext>
                </a:extLst>
              </a:tr>
              <a:tr h="390052">
                <a:tc>
                  <a:txBody>
                    <a:bodyPr/>
                    <a:lstStyle/>
                    <a:p>
                      <a:pPr>
                        <a:lnSpc>
                          <a:spcPct val="115000"/>
                        </a:lnSpc>
                        <a:spcAft>
                          <a:spcPts val="800"/>
                        </a:spcAft>
                        <a:buNone/>
                      </a:pPr>
                      <a:r>
                        <a:rPr lang="en-GB" sz="11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Documentation</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75623"/>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75623"/>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75623"/>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75623"/>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extLst>
                  <a:ext uri="{0D108BD9-81ED-4DB2-BD59-A6C34878D82A}">
                    <a16:rowId xmlns:a16="http://schemas.microsoft.com/office/drawing/2014/main" val="1320800971"/>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4" name="Text 2"/>
          <p:cNvSpPr/>
          <p:nvPr/>
        </p:nvSpPr>
        <p:spPr>
          <a:xfrm>
            <a:off x="457200" y="0"/>
            <a:ext cx="8412480" cy="475488"/>
          </a:xfrm>
          <a:prstGeom prst="rect">
            <a:avLst/>
          </a:prstGeom>
          <a:noFill/>
          <a:ln/>
        </p:spPr>
        <p:txBody>
          <a:bodyPr wrap="square" lIns="0" tIns="0" rIns="0" bIns="0" rtlCol="0" anchor="ctr"/>
          <a:lstStyle/>
          <a:p>
            <a:pPr marL="0" indent="0">
              <a:buNone/>
            </a:pPr>
            <a:r>
              <a:rPr lang="en-US" sz="2800" b="1" dirty="0">
                <a:latin typeface="Trebuchet MS" pitchFamily="34" charset="0"/>
                <a:ea typeface="Trebuchet MS" pitchFamily="34" charset="-122"/>
                <a:cs typeface="Trebuchet MS" pitchFamily="34" charset="-120"/>
              </a:rPr>
              <a:t>Research Budget</a:t>
            </a:r>
            <a:endParaRPr lang="en-US" sz="2800" dirty="0"/>
          </a:p>
        </p:txBody>
      </p:sp>
      <p:sp>
        <p:nvSpPr>
          <p:cNvPr id="6" name="Text 4"/>
          <p:cNvSpPr/>
          <p:nvPr/>
        </p:nvSpPr>
        <p:spPr>
          <a:xfrm>
            <a:off x="274320" y="4919472"/>
            <a:ext cx="7772400" cy="224028"/>
          </a:xfrm>
          <a:prstGeom prst="rect">
            <a:avLst/>
          </a:prstGeom>
          <a:noFill/>
          <a:ln/>
        </p:spPr>
        <p:txBody>
          <a:bodyPr wrap="square" lIns="0" tIns="0" rIns="0" bIns="0" rtlCol="0" anchor="ctr"/>
          <a:lstStyle/>
          <a:p>
            <a:pPr marL="0" indent="0">
              <a:buNone/>
            </a:pPr>
            <a:r>
              <a:rPr lang="en-US" sz="1200" dirty="0"/>
              <a:t>AI Skin Disease Classifier</a:t>
            </a:r>
          </a:p>
        </p:txBody>
      </p:sp>
      <p:sp>
        <p:nvSpPr>
          <p:cNvPr id="7" name="Text 5"/>
          <p:cNvSpPr/>
          <p:nvPr/>
        </p:nvSpPr>
        <p:spPr>
          <a:xfrm>
            <a:off x="7955280" y="4919472"/>
            <a:ext cx="1005840" cy="224028"/>
          </a:xfrm>
          <a:prstGeom prst="rect">
            <a:avLst/>
          </a:prstGeom>
          <a:noFill/>
          <a:ln/>
        </p:spPr>
        <p:txBody>
          <a:bodyPr wrap="square" lIns="0" tIns="0" rIns="0" bIns="0" rtlCol="0" anchor="ctr"/>
          <a:lstStyle/>
          <a:p>
            <a:pPr marL="0" indent="0" algn="r">
              <a:buNone/>
            </a:pPr>
            <a:r>
              <a:rPr lang="en-US" sz="1300" b="1" dirty="0"/>
              <a:t>14 / 14</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2283129488"/>
              </p:ext>
            </p:extLst>
          </p:nvPr>
        </p:nvGraphicFramePr>
        <p:xfrm>
          <a:off x="1371600" y="621792"/>
          <a:ext cx="6400800" cy="4011168"/>
        </p:xfrm>
        <a:graphic>
          <a:graphicData uri="http://schemas.openxmlformats.org/drawingml/2006/table">
            <a:tbl>
              <a:tblPr/>
              <a:tblGrid>
                <a:gridCol w="45720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475488">
                <a:tc>
                  <a:txBody>
                    <a:bodyPr/>
                    <a:lstStyle/>
                    <a:p>
                      <a:pPr marL="0" indent="0">
                        <a:buNone/>
                      </a:pPr>
                      <a:r>
                        <a:rPr lang="en-US" sz="1600" b="1" dirty="0">
                          <a:solidFill>
                            <a:schemeClr val="tx1"/>
                          </a:solidFill>
                        </a:rPr>
                        <a:t>#</a:t>
                      </a:r>
                      <a:endParaRPr lang="en-US" sz="1600" dirty="0">
                        <a:solidFill>
                          <a:schemeClr val="tx1"/>
                        </a:solidFill>
                      </a:endParaRP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buNone/>
                      </a:pPr>
                      <a:r>
                        <a:rPr lang="en-US" sz="1600" b="1" dirty="0">
                          <a:solidFill>
                            <a:schemeClr val="tx1"/>
                          </a:solidFill>
                        </a:rPr>
                        <a:t>Item / Description</a:t>
                      </a:r>
                      <a:endParaRPr lang="en-US" sz="1600" dirty="0">
                        <a:solidFill>
                          <a:schemeClr val="tx1"/>
                        </a:solidFill>
                      </a:endParaRP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buNone/>
                      </a:pPr>
                      <a:r>
                        <a:rPr lang="en-US" sz="1600" b="1" dirty="0">
                          <a:solidFill>
                            <a:schemeClr val="tx1"/>
                          </a:solidFill>
                        </a:rPr>
                        <a:t>Qty</a:t>
                      </a:r>
                      <a:endParaRPr lang="en-US" sz="1600" dirty="0">
                        <a:solidFill>
                          <a:schemeClr val="tx1"/>
                        </a:solidFill>
                      </a:endParaRP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buNone/>
                      </a:pPr>
                      <a:r>
                        <a:rPr lang="en-US" sz="1600" b="1" dirty="0">
                          <a:solidFill>
                            <a:schemeClr val="tx1"/>
                          </a:solidFill>
                        </a:rPr>
                        <a:t>Amount (ZMK)</a:t>
                      </a:r>
                      <a:endParaRPr lang="en-US" sz="1600" dirty="0">
                        <a:solidFill>
                          <a:schemeClr val="tx1"/>
                        </a:solidFill>
                      </a:endParaRP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75488">
                <a:tc>
                  <a:txBody>
                    <a:bodyPr/>
                    <a:lstStyle/>
                    <a:p>
                      <a:pPr marL="0" indent="0" algn="ctr">
                        <a:buNone/>
                      </a:pPr>
                      <a:r>
                        <a:rPr lang="en-US" sz="1600" dirty="0">
                          <a:solidFill>
                            <a:schemeClr val="tx1"/>
                          </a:solidFill>
                        </a:rPr>
                        <a:t>1</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Google Colab Pro (GPU training, 3 months)</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3 mo</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lgn="r">
                        <a:buNone/>
                      </a:pPr>
                      <a:r>
                        <a:rPr lang="en-US" sz="1600" b="1" dirty="0">
                          <a:solidFill>
                            <a:schemeClr val="tx1"/>
                          </a:solidFill>
                        </a:rPr>
                        <a:t>K 1,500</a:t>
                      </a:r>
                      <a:endParaRPr lang="en-US" sz="1600" dirty="0">
                        <a:solidFill>
                          <a:schemeClr val="tx1"/>
                        </a:solidFill>
                      </a:endParaRP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75488">
                <a:tc>
                  <a:txBody>
                    <a:bodyPr/>
                    <a:lstStyle/>
                    <a:p>
                      <a:pPr marL="0" indent="0" algn="ctr">
                        <a:buNone/>
                      </a:pPr>
                      <a:r>
                        <a:rPr lang="en-US" sz="1600" dirty="0">
                          <a:solidFill>
                            <a:schemeClr val="tx1"/>
                          </a:solidFill>
                        </a:rPr>
                        <a:t>2</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VPS Hosting (Flask app, 6 months)</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6 mo</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lgn="r">
                        <a:buNone/>
                      </a:pPr>
                      <a:r>
                        <a:rPr lang="en-US" sz="1600" b="1" dirty="0">
                          <a:solidFill>
                            <a:schemeClr val="tx1"/>
                          </a:solidFill>
                        </a:rPr>
                        <a:t>K 1,260</a:t>
                      </a:r>
                      <a:endParaRPr lang="en-US" sz="1600" dirty="0">
                        <a:solidFill>
                          <a:schemeClr val="tx1"/>
                        </a:solidFill>
                      </a:endParaRP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75488">
                <a:tc>
                  <a:txBody>
                    <a:bodyPr/>
                    <a:lstStyle/>
                    <a:p>
                      <a:pPr marL="0" indent="0" algn="ctr">
                        <a:buNone/>
                      </a:pPr>
                      <a:r>
                        <a:rPr lang="en-US" sz="1600" dirty="0">
                          <a:solidFill>
                            <a:schemeClr val="tx1"/>
                          </a:solidFill>
                        </a:rPr>
                        <a:t>3</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Dermatologist consultation (2 sessions)</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2</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lgn="r">
                        <a:buNone/>
                      </a:pPr>
                      <a:r>
                        <a:rPr lang="en-US" sz="1600" b="1" dirty="0">
                          <a:solidFill>
                            <a:schemeClr val="tx1"/>
                          </a:solidFill>
                        </a:rPr>
                        <a:t>K 1,800</a:t>
                      </a:r>
                      <a:endParaRPr lang="en-US" sz="1600" dirty="0">
                        <a:solidFill>
                          <a:schemeClr val="tx1"/>
                        </a:solidFill>
                      </a:endParaRP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75488">
                <a:tc>
                  <a:txBody>
                    <a:bodyPr/>
                    <a:lstStyle/>
                    <a:p>
                      <a:pPr marL="0" indent="0" algn="ctr">
                        <a:buNone/>
                      </a:pPr>
                      <a:r>
                        <a:rPr lang="en-US" sz="1600" dirty="0">
                          <a:solidFill>
                            <a:schemeClr val="tx1"/>
                          </a:solidFill>
                        </a:rPr>
                        <a:t>4</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Transportation &amp; user testing</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Lump</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lgn="r">
                        <a:buNone/>
                      </a:pPr>
                      <a:r>
                        <a:rPr lang="en-US" sz="1600" b="1" dirty="0">
                          <a:solidFill>
                            <a:schemeClr val="tx1"/>
                          </a:solidFill>
                        </a:rPr>
                        <a:t>K 1,500</a:t>
                      </a:r>
                      <a:endParaRPr lang="en-US" sz="1600" dirty="0">
                        <a:solidFill>
                          <a:schemeClr val="tx1"/>
                        </a:solidFill>
                      </a:endParaRP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75488">
                <a:tc>
                  <a:txBody>
                    <a:bodyPr/>
                    <a:lstStyle/>
                    <a:p>
                      <a:pPr marL="0" indent="0" algn="ctr">
                        <a:buNone/>
                      </a:pPr>
                      <a:r>
                        <a:rPr lang="en-US" sz="1600" dirty="0">
                          <a:solidFill>
                            <a:schemeClr val="tx1"/>
                          </a:solidFill>
                        </a:rPr>
                        <a:t>5</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Research Materials &amp; IEEE access</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1</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lgn="r">
                        <a:buNone/>
                      </a:pPr>
                      <a:r>
                        <a:rPr lang="en-US" sz="1600" b="1" dirty="0">
                          <a:solidFill>
                            <a:schemeClr val="tx1"/>
                          </a:solidFill>
                        </a:rPr>
                        <a:t>K 1,200</a:t>
                      </a:r>
                      <a:endParaRPr lang="en-US" sz="1600" dirty="0">
                        <a:solidFill>
                          <a:schemeClr val="tx1"/>
                        </a:solidFill>
                      </a:endParaRP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75488">
                <a:tc>
                  <a:txBody>
                    <a:bodyPr/>
                    <a:lstStyle/>
                    <a:p>
                      <a:pPr marL="0" indent="0" algn="ctr">
                        <a:buNone/>
                      </a:pPr>
                      <a:r>
                        <a:rPr lang="en-US" sz="1600" dirty="0">
                          <a:solidFill>
                            <a:schemeClr val="tx1"/>
                          </a:solidFill>
                        </a:rPr>
                        <a:t>6</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Contingency</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1</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lgn="r">
                        <a:buNone/>
                      </a:pPr>
                      <a:r>
                        <a:rPr lang="en-US" sz="1600" b="1" dirty="0">
                          <a:solidFill>
                            <a:schemeClr val="tx1"/>
                          </a:solidFill>
                        </a:rPr>
                        <a:t>K 740</a:t>
                      </a:r>
                      <a:endParaRPr lang="en-US" sz="1600" dirty="0">
                        <a:solidFill>
                          <a:schemeClr val="tx1"/>
                        </a:solidFill>
                      </a:endParaRP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75488">
                <a:tc>
                  <a:txBody>
                    <a:bodyPr/>
                    <a:lstStyle/>
                    <a:p>
                      <a:pPr marL="0" indent="0">
                        <a:buNone/>
                      </a:pPr>
                      <a:endParaRPr lang="en-US" sz="1200" dirty="0">
                        <a:solidFill>
                          <a:schemeClr val="tx1"/>
                        </a:solidFill>
                      </a:endParaRP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buNone/>
                      </a:pPr>
                      <a:r>
                        <a:rPr lang="en-US" sz="1700" b="1" dirty="0">
                          <a:solidFill>
                            <a:schemeClr val="tx1"/>
                          </a:solidFill>
                        </a:rPr>
                        <a:t>TOTAL</a:t>
                      </a:r>
                      <a:endParaRPr lang="en-US" sz="1700" dirty="0">
                        <a:solidFill>
                          <a:schemeClr val="tx1"/>
                        </a:solidFill>
                      </a:endParaRP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buNone/>
                      </a:pPr>
                      <a:endParaRPr lang="en-US" sz="1200" dirty="0">
                        <a:solidFill>
                          <a:schemeClr val="tx1"/>
                        </a:solidFill>
                      </a:endParaRP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lgn="r">
                        <a:buNone/>
                      </a:pPr>
                      <a:r>
                        <a:rPr lang="en-US" sz="1800" b="1" dirty="0">
                          <a:solidFill>
                            <a:schemeClr val="tx1"/>
                          </a:solidFill>
                        </a:rPr>
                        <a:t>K 8,000</a:t>
                      </a:r>
                      <a:endParaRPr lang="en-US" sz="1800" dirty="0">
                        <a:solidFill>
                          <a:schemeClr val="tx1"/>
                        </a:solidFill>
                      </a:endParaRP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TotalTime>
  <Words>1069</Words>
  <Application>Microsoft Office PowerPoint</Application>
  <PresentationFormat>On-screen Show (16:9)</PresentationFormat>
  <Paragraphs>425</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Century Gothic</vt:lpstr>
      <vt:lpstr>Times New Roman</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Alexander Musonda</cp:lastModifiedBy>
  <cp:revision>14</cp:revision>
  <dcterms:created xsi:type="dcterms:W3CDTF">2026-04-23T08:14:25Z</dcterms:created>
  <dcterms:modified xsi:type="dcterms:W3CDTF">2026-04-28T18:35:09Z</dcterms:modified>
</cp:coreProperties>
</file>