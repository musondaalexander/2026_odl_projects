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440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7AAF88"/>
                </a:solidFill>
              </a:rPr>
              <a:t>PROJECT PROPOSAL  ·  ODL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6DBF67">
              <a:alpha val="18000"/>
            </a:srgbClr>
          </a:solidFill>
          <a:ln w="12700">
            <a:solidFill>
              <a:srgbClr val="6DBF67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Exam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Plagiarism Detection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6DBF67"/>
                </a:solidFill>
              </a:rPr>
              <a:t>NLP  ·  Spring Boot  ·  Java  ·  PDF Reports  ·  Auto-Grading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5029200" cy="27432"/>
          </a:xfrm>
          <a:prstGeom prst="rect">
            <a:avLst/>
          </a:prstGeom>
          <a:solidFill>
            <a:srgbClr val="7AAF88">
              <a:alpha val="50000"/>
            </a:srgbClr>
          </a:solidFill>
          <a:ln w="12700">
            <a:solidFill>
              <a:srgbClr val="7AAF8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LUWITA ELIZABETH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2511786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LONGWE TIVWALE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2511784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KABUKA GIVEN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2511755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—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594360"/>
            <a:ext cx="8412480" cy="7315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1170432"/>
            <a:ext cx="8046720" cy="22860"/>
          </a:xfrm>
          <a:prstGeom prst="rect">
            <a:avLst/>
          </a:prstGeom>
          <a:solidFill>
            <a:srgbClr val="E6F5E8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Zambian academic institutions rely on paper exams and manual grading, creating bottlenecks, delayed feedback, and inconsistent scoring. Plagiarism in written submissions goes largely undetected without automated tools.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— The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03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594360"/>
            <a:ext cx="8412480" cy="7315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1170432"/>
            <a:ext cx="8046720" cy="22860"/>
          </a:xfrm>
          <a:prstGeom prst="rect">
            <a:avLst/>
          </a:prstGeom>
          <a:solidFill>
            <a:srgbClr val="E6F5E8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exam platform with randomised question delivery, auto-grading, NLP text-similarity plagiarism detection, and automated PDF reporting can digitise assessment workflows, improve integrity, and free lecturers from repetitive marking.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04 / 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BF67"/>
                </a:solidFill>
              </a:rPr>
              <a:t>Key problems driving this project: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069848"/>
            <a:ext cx="54864" cy="6400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5156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exam marking is time-consuming, leading to delayed feedback and inconsistent scoring.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54864" cy="6400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92024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 papers are easily shared between students — randomisation is critical for integrity.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54864" cy="6400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889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in written answers goes largely undetected without automated text-similarity tools.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54864" cy="6400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5760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lack automated PDF report generation for exam results and plagiarism flags.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05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6F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8368"/>
            <a:ext cx="566928" cy="12618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BF67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85953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secure online exam module with randomised question delivery, countdown timer, and auto-grading producing instant results.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2048256"/>
            <a:ext cx="9144000" cy="1261872"/>
          </a:xfrm>
          <a:prstGeom prst="rect">
            <a:avLst/>
          </a:prstGeom>
          <a:solidFill>
            <a:srgbClr val="E6F5E8"/>
          </a:solidFill>
          <a:ln w="10160">
            <a:solidFill>
              <a:srgbClr val="E6F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48256"/>
            <a:ext cx="566928" cy="126187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2048256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249424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an NLP text-similarity engine analysing student answers against a reference corpus and flagging submissions exceeding a plagiarism threshold.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3438144"/>
            <a:ext cx="9144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6F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438144"/>
            <a:ext cx="566928" cy="12618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438144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BF67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2000" dirty="0" err="1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integrate an automated PDF reporting system compiling exam results and plagiarism flags into structured downloadable reports.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06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8412480" cy="120700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658368"/>
            <a:ext cx="749808" cy="120700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58368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2F"/>
                </a:solidFill>
              </a:rPr>
              <a:t>Q1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8229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secure online exam module be developed to deliver randomised questions, enforce time limits, and auto-grade submissions instantly?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120700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48256"/>
            <a:ext cx="749808" cy="120700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48256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2F"/>
                </a:solidFill>
              </a:rPr>
              <a:t>Q2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2128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NLP text-similarity engine be implemented to detect and flag submissions exceeding a defined plagiarism threshold?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3438144"/>
            <a:ext cx="8412480" cy="120700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38144"/>
            <a:ext cx="749808" cy="120700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38144"/>
            <a:ext cx="7498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2F"/>
                </a:solidFill>
              </a:rPr>
              <a:t>Q3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automated PDF reporting system be built to compile exam results and plagiarism flags into structured downloadable reports?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of the Study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07 / 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covers web-based exam delivery, NLP plagiarism detection, and PDF report generation for text-based assessments.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353312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264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question bank exam delivery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53312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4264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 and auto-submission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77440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50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 with instant results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77440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450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text-similarity plagiarism detection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01568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7472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plagiarism flagging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0156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01568"/>
            <a:ext cx="54864" cy="896112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47472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exam and plagiarism reports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of the Study  (1/2)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08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Grading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 delivers results immediately after submission, eliminating marking delays.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Integrity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delivery closes the window for paper sharing between students.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Plagiarism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similarity detection surfaces copied answers that manual review would miss.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of the Study  (2/2)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09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create permanent, structured records for institutional review and appeals.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exams scale to hundreds of concurrent sittings without additional invigilation.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658368"/>
            <a:ext cx="2697480" cy="4041648"/>
          </a:xfrm>
          <a:prstGeom prst="rect">
            <a:avLst/>
          </a:prstGeom>
          <a:solidFill>
            <a:srgbClr val="2A4D3E"/>
          </a:solidFill>
          <a:ln w="10160">
            <a:solidFill>
              <a:srgbClr val="6DBF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645152"/>
            <a:ext cx="2697480" cy="5486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749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BF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75564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 working NLP + Spring Boot implementation for Zambian academic literature.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10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66928"/>
            <a:ext cx="8595360" cy="431596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64008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859536"/>
            <a:ext cx="0" cy="320040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987552"/>
            <a:ext cx="365760" cy="0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179576"/>
            <a:ext cx="0" cy="256032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179576"/>
            <a:ext cx="182880" cy="256032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1581912"/>
            <a:ext cx="0" cy="18288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1435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160020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88336" y="1920240"/>
            <a:ext cx="932688" cy="0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160020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31750">
            <a:solidFill>
              <a:srgbClr val="1E3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&amp; NLP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22976" y="1920240"/>
            <a:ext cx="841248" cy="0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60020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2276856"/>
            <a:ext cx="0" cy="429768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63340" y="27432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3340" y="274320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3419856"/>
            <a:ext cx="0" cy="338328"/>
          </a:xfrm>
          <a:prstGeom prst="line">
            <a:avLst/>
          </a:prstGeom>
          <a:noFill/>
          <a:ln w="25400">
            <a:solidFill>
              <a:srgbClr val="1E3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3593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2F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71900" y="379476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190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(MySQL)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11 / 14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94360"/>
          <a:ext cx="8778240" cy="2529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Author &amp; Year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Atoum et al. (2014)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Online Exam Integrity Framework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Proposed randomised question banks and browser lockdown for online exam security.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No plagiarism detection or automated PDF reporting included.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Alzahrani et al. (2012)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Plagiarism Linguistic Patterns with NLP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Applied NLP text-similarity to detect paraphrased plagiarism beyond string matching.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Document-level only — not implemented in a real-time exam assessment context.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Mwale &amp; Phiri (2022)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Digital Assessment Challenges in Zambian Universities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Identified manual grading and absent plagiarism tools as key barriers to fair digital assessment.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3028"/>
                          </a:solidFill>
                        </a:rPr>
                        <a:t>No technical solution proposed — gap remains for an integrated local platform.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F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12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F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033272"/>
            <a:ext cx="1965960" cy="3749040"/>
          </a:xfrm>
          <a:prstGeom prst="rect">
            <a:avLst/>
          </a:prstGeom>
          <a:solidFill>
            <a:srgbClr val="2A4D3E"/>
          </a:solidFill>
          <a:ln w="6350">
            <a:solidFill>
              <a:srgbClr val="6DBF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interviews on exam and marking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surveys on digital assessment experience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case records for threshold calibration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Tool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50592" y="1033272"/>
            <a:ext cx="1965960" cy="3749040"/>
          </a:xfrm>
          <a:prstGeom prst="rect">
            <a:avLst/>
          </a:prstGeom>
          <a:solidFill>
            <a:srgbClr val="2A4D3E"/>
          </a:solidFill>
          <a:ln w="6350">
            <a:solidFill>
              <a:srgbClr val="6DBF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(UML)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student/lecturer/admin interactions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exam, plagiarism, and report flows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2F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1033272"/>
            <a:ext cx="1965960" cy="3749040"/>
          </a:xfrm>
          <a:prstGeom prst="rect">
            <a:avLst/>
          </a:prstGeom>
          <a:solidFill>
            <a:srgbClr val="2A4D3E"/>
          </a:solidFill>
          <a:ln w="6350">
            <a:solidFill>
              <a:srgbClr val="6DBF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(backend)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(frontend)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NLTK (NLP plagiarism)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iText / JasperReports (PDF)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621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03136" y="1033272"/>
            <a:ext cx="1965960" cy="3749040"/>
          </a:xfrm>
          <a:prstGeom prst="rect">
            <a:avLst/>
          </a:prstGeom>
          <a:solidFill>
            <a:srgbClr val="2A4D3E"/>
          </a:solidFill>
          <a:ln w="6350">
            <a:solidFill>
              <a:srgbClr val="6DBF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115568"/>
            <a:ext cx="171907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(iterative sprints)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per module (JUnit)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student and lecturer cohort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Timeline  ·  April – November 2026 (Weekly)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13 /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95728" y="566928"/>
            <a:ext cx="792099" cy="237744"/>
          </a:xfrm>
          <a:prstGeom prst="rect">
            <a:avLst/>
          </a:prstGeom>
          <a:solidFill>
            <a:srgbClr val="1E3A2F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87827" y="566928"/>
            <a:ext cx="792099" cy="237744"/>
          </a:xfrm>
          <a:prstGeom prst="rect">
            <a:avLst/>
          </a:prstGeom>
          <a:solidFill>
            <a:srgbClr val="2A4D3E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7827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79926" y="566928"/>
            <a:ext cx="792099" cy="237744"/>
          </a:xfrm>
          <a:prstGeom prst="rect">
            <a:avLst/>
          </a:prstGeom>
          <a:solidFill>
            <a:srgbClr val="1E3A2F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9926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2025" y="566928"/>
            <a:ext cx="792099" cy="237744"/>
          </a:xfrm>
          <a:prstGeom prst="rect">
            <a:avLst/>
          </a:prstGeom>
          <a:solidFill>
            <a:srgbClr val="2A4D3E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2025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64124" y="566928"/>
            <a:ext cx="792099" cy="237744"/>
          </a:xfrm>
          <a:prstGeom prst="rect">
            <a:avLst/>
          </a:prstGeom>
          <a:solidFill>
            <a:srgbClr val="1E3A2F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4124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56223" y="566928"/>
            <a:ext cx="792099" cy="237744"/>
          </a:xfrm>
          <a:prstGeom prst="rect">
            <a:avLst/>
          </a:prstGeom>
          <a:solidFill>
            <a:srgbClr val="2A4D3E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6223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48322" y="566928"/>
            <a:ext cx="792099" cy="237744"/>
          </a:xfrm>
          <a:prstGeom prst="rect">
            <a:avLst/>
          </a:prstGeom>
          <a:solidFill>
            <a:srgbClr val="1E3A2F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8322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40421" y="566928"/>
            <a:ext cx="792099" cy="237744"/>
          </a:xfrm>
          <a:prstGeom prst="rect">
            <a:avLst/>
          </a:prstGeom>
          <a:solidFill>
            <a:srgbClr val="2A4D3E"/>
          </a:solidFill>
          <a:ln w="3810">
            <a:solidFill>
              <a:srgbClr val="1E3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0421" y="566928"/>
            <a:ext cx="792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95728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593753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375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791778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177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989802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980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187827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782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385852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585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583877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387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781901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190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979926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992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177951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795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375976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597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74000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4000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772025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202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970050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0050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168075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807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5366099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66099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5564124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64124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762149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2149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5960174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60174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6158198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5819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6356223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622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554248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4248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6752273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52273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6950297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5029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7148322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48322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7346347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46347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754437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437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7742396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4239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794042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4042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W1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8138446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38446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W2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8336471" y="804672"/>
            <a:ext cx="198025" cy="201168"/>
          </a:xfrm>
          <a:prstGeom prst="rect">
            <a:avLst/>
          </a:prstGeom>
          <a:solidFill>
            <a:srgbClr val="333333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6471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W3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8534495" y="804672"/>
            <a:ext cx="198025" cy="201168"/>
          </a:xfrm>
          <a:prstGeom prst="rect">
            <a:avLst/>
          </a:prstGeom>
          <a:solidFill>
            <a:srgbClr val="2A2A2A"/>
          </a:solidFill>
          <a:ln w="2540">
            <a:solidFill>
              <a:srgbClr val="1E3A2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34495" y="804672"/>
            <a:ext cx="1980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AF88"/>
                </a:solidFill>
              </a:rPr>
              <a:t>W4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2395728" y="1024128"/>
            <a:ext cx="6336792" cy="18288"/>
          </a:xfrm>
          <a:prstGeom prst="rect">
            <a:avLst/>
          </a:prstGeom>
          <a:solidFill>
            <a:srgbClr val="6DBF67">
              <a:alpha val="40000"/>
            </a:srgbClr>
          </a:solidFill>
          <a:ln w="12700">
            <a:solidFill>
              <a:srgbClr val="6DBF67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4320" y="1042416"/>
            <a:ext cx="8595360" cy="420624"/>
          </a:xfrm>
          <a:prstGeom prst="rect">
            <a:avLst/>
          </a:prstGeom>
          <a:solidFill>
            <a:srgbClr val="2A4D3E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104241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Writing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993392" y="1161288"/>
            <a:ext cx="365760" cy="182880"/>
          </a:xfrm>
          <a:prstGeom prst="rect">
            <a:avLst/>
          </a:prstGeom>
          <a:solidFill>
            <a:srgbClr val="7AAF88">
              <a:alpha val="32000"/>
            </a:srgbClr>
          </a:solidFill>
          <a:ln w="3810">
            <a:solidFill>
              <a:srgbClr val="7AAF88">
                <a:alpha val="5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93392" y="11612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AAF88"/>
                </a:solidFill>
              </a:rPr>
              <a:t>PLAN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2414016" y="1179576"/>
            <a:ext cx="755523" cy="146304"/>
          </a:xfrm>
          <a:prstGeom prst="rect">
            <a:avLst/>
          </a:prstGeom>
          <a:solidFill>
            <a:srgbClr val="7AAF88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14016" y="1179576"/>
            <a:ext cx="755523" cy="146304"/>
          </a:xfrm>
          <a:prstGeom prst="rect">
            <a:avLst/>
          </a:prstGeom>
          <a:solidFill>
            <a:srgbClr val="7AAF88"/>
          </a:solidFill>
          <a:ln w="12700">
            <a:solidFill>
              <a:srgbClr val="7AAF8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700000">
            <a:off x="3119115" y="1170432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7AAF8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4320" y="1463040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7472" y="146304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993392" y="1581912"/>
            <a:ext cx="365760" cy="182880"/>
          </a:xfrm>
          <a:prstGeom prst="rect">
            <a:avLst/>
          </a:prstGeom>
          <a:solidFill>
            <a:srgbClr val="7AAF88">
              <a:alpha val="32000"/>
            </a:srgbClr>
          </a:solidFill>
          <a:ln w="3810">
            <a:solidFill>
              <a:srgbClr val="7AAF88">
                <a:alpha val="5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993392" y="1581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AAF88"/>
                </a:solidFill>
              </a:rPr>
              <a:t>LIT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414016" y="1600200"/>
            <a:ext cx="1547622" cy="146304"/>
          </a:xfrm>
          <a:prstGeom prst="rect">
            <a:avLst/>
          </a:prstGeom>
          <a:solidFill>
            <a:srgbClr val="7AAF88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14016" y="1581912"/>
            <a:ext cx="4554569" cy="146304"/>
          </a:xfrm>
          <a:prstGeom prst="rect">
            <a:avLst/>
          </a:prstGeom>
          <a:solidFill>
            <a:srgbClr val="7AAF88"/>
          </a:solidFill>
          <a:ln w="12700">
            <a:solidFill>
              <a:srgbClr val="7AAF8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700000">
            <a:off x="6895432" y="1581656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7AAF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Shape 101"/>
          <p:cNvSpPr/>
          <p:nvPr/>
        </p:nvSpPr>
        <p:spPr>
          <a:xfrm>
            <a:off x="274320" y="1883664"/>
            <a:ext cx="8595360" cy="420624"/>
          </a:xfrm>
          <a:prstGeom prst="rect">
            <a:avLst/>
          </a:prstGeom>
          <a:solidFill>
            <a:srgbClr val="2A4D3E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47472" y="188366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993392" y="2002536"/>
            <a:ext cx="365760" cy="182880"/>
          </a:xfrm>
          <a:prstGeom prst="rect">
            <a:avLst/>
          </a:prstGeom>
          <a:solidFill>
            <a:srgbClr val="6DBF67">
              <a:alpha val="32000"/>
            </a:srgbClr>
          </a:solidFill>
          <a:ln w="3810">
            <a:solidFill>
              <a:srgbClr val="6DBF67">
                <a:alpha val="5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993392" y="20025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DBF67"/>
                </a:solidFill>
              </a:rPr>
              <a:t>REQ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3206115" y="2020824"/>
            <a:ext cx="1151573" cy="146304"/>
          </a:xfrm>
          <a:prstGeom prst="rect">
            <a:avLst/>
          </a:prstGeom>
          <a:solidFill>
            <a:srgbClr val="6DBF67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06115" y="2020824"/>
            <a:ext cx="1151573" cy="14630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2700000">
            <a:off x="4293680" y="2020824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DBF6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2304288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47472" y="230428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1993392" y="2423160"/>
            <a:ext cx="365760" cy="182880"/>
          </a:xfrm>
          <a:prstGeom prst="rect">
            <a:avLst/>
          </a:prstGeom>
          <a:solidFill>
            <a:srgbClr val="6DBF67">
              <a:alpha val="32000"/>
            </a:srgbClr>
          </a:solidFill>
          <a:ln w="3810">
            <a:solidFill>
              <a:srgbClr val="6DBF67">
                <a:alpha val="5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2423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DBF67"/>
                </a:solidFill>
              </a:rPr>
              <a:t>DSGN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998214" y="2441448"/>
            <a:ext cx="1151573" cy="146304"/>
          </a:xfrm>
          <a:prstGeom prst="rect">
            <a:avLst/>
          </a:prstGeom>
          <a:solidFill>
            <a:srgbClr val="6DBF67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98214" y="2441448"/>
            <a:ext cx="1151573" cy="14630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700000">
            <a:off x="5085779" y="2441448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DBF6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4320" y="2724912"/>
            <a:ext cx="8595360" cy="420624"/>
          </a:xfrm>
          <a:prstGeom prst="rect">
            <a:avLst/>
          </a:prstGeom>
          <a:solidFill>
            <a:srgbClr val="2A4D3E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47472" y="272491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Module Dev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993392" y="2843784"/>
            <a:ext cx="365760" cy="182880"/>
          </a:xfrm>
          <a:prstGeom prst="rect">
            <a:avLst/>
          </a:prstGeom>
          <a:solidFill>
            <a:srgbClr val="6DBF67">
              <a:alpha val="32000"/>
            </a:srgbClr>
          </a:solidFill>
          <a:ln w="3810">
            <a:solidFill>
              <a:srgbClr val="6DBF67">
                <a:alpha val="5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9339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DBF67"/>
                </a:solidFill>
              </a:rPr>
              <a:t>BUILD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790313" y="2862072"/>
            <a:ext cx="1943672" cy="146304"/>
          </a:xfrm>
          <a:prstGeom prst="rect">
            <a:avLst/>
          </a:prstGeom>
          <a:solidFill>
            <a:srgbClr val="6DBF67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90313" y="2862072"/>
            <a:ext cx="1943672" cy="14630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6669977" y="2862072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DBF6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4320" y="3145536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47472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PDF Module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993392" y="3264408"/>
            <a:ext cx="365760" cy="182880"/>
          </a:xfrm>
          <a:prstGeom prst="rect">
            <a:avLst/>
          </a:prstGeom>
          <a:solidFill>
            <a:srgbClr val="6DBF67">
              <a:alpha val="32000"/>
            </a:srgbClr>
          </a:solidFill>
          <a:ln w="3810">
            <a:solidFill>
              <a:srgbClr val="6DBF67">
                <a:alpha val="5000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93392" y="3264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DBF67"/>
                </a:solidFill>
              </a:rPr>
              <a:t>CODE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5582412" y="3282696"/>
            <a:ext cx="1943672" cy="146304"/>
          </a:xfrm>
          <a:prstGeom prst="rect">
            <a:avLst/>
          </a:prstGeom>
          <a:solidFill>
            <a:srgbClr val="6DBF67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82412" y="3282696"/>
            <a:ext cx="1943672" cy="14630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7462076" y="3282696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DBF6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320" y="3566160"/>
            <a:ext cx="8595360" cy="420624"/>
          </a:xfrm>
          <a:prstGeom prst="rect">
            <a:avLst/>
          </a:prstGeom>
          <a:solidFill>
            <a:srgbClr val="2A4D3E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47472" y="356616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993392" y="3685032"/>
            <a:ext cx="365760" cy="182880"/>
          </a:xfrm>
          <a:prstGeom prst="rect">
            <a:avLst/>
          </a:prstGeom>
          <a:solidFill>
            <a:srgbClr val="7AAF88">
              <a:alpha val="32000"/>
            </a:srgbClr>
          </a:solidFill>
          <a:ln w="3810">
            <a:solidFill>
              <a:srgbClr val="7AAF88">
                <a:alpha val="5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993392" y="3685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AAF88"/>
                </a:solidFill>
              </a:rPr>
              <a:t>TEST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6968585" y="3703320"/>
            <a:ext cx="1151573" cy="146304"/>
          </a:xfrm>
          <a:prstGeom prst="rect">
            <a:avLst/>
          </a:prstGeom>
          <a:solidFill>
            <a:srgbClr val="7AAF88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968585" y="3703320"/>
            <a:ext cx="1151573" cy="146304"/>
          </a:xfrm>
          <a:prstGeom prst="rect">
            <a:avLst/>
          </a:prstGeom>
          <a:solidFill>
            <a:srgbClr val="7AAF88"/>
          </a:solidFill>
          <a:ln w="12700">
            <a:solidFill>
              <a:srgbClr val="7AAF8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8056150" y="3703320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7AAF8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3986784"/>
            <a:ext cx="8595360" cy="420624"/>
          </a:xfrm>
          <a:prstGeom prst="rect">
            <a:avLst/>
          </a:prstGeom>
          <a:solidFill>
            <a:srgbClr val="232323"/>
          </a:solidFill>
          <a:ln w="2540">
            <a:solidFill>
              <a:srgbClr val="2A2A2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47472" y="398678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1993392" y="4105656"/>
            <a:ext cx="365760" cy="182880"/>
          </a:xfrm>
          <a:prstGeom prst="rect">
            <a:avLst/>
          </a:prstGeom>
          <a:solidFill>
            <a:srgbClr val="6DBF67">
              <a:alpha val="32000"/>
            </a:srgbClr>
          </a:solidFill>
          <a:ln w="3810">
            <a:solidFill>
              <a:srgbClr val="6DBF67">
                <a:alpha val="50000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993392" y="4105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6DBF67"/>
                </a:solidFill>
              </a:rPr>
              <a:t>DONE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7760684" y="4123944"/>
            <a:ext cx="953548" cy="146304"/>
          </a:xfrm>
          <a:prstGeom prst="rect">
            <a:avLst/>
          </a:prstGeom>
          <a:solidFill>
            <a:srgbClr val="6DBF67">
              <a:alpha val="22000"/>
            </a:srgbClr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60684" y="4123944"/>
            <a:ext cx="953548" cy="146304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8650224" y="4123944"/>
            <a:ext cx="146304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6DBF6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475488"/>
          </a:xfrm>
          <a:prstGeom prst="rect">
            <a:avLst/>
          </a:prstGeom>
          <a:solidFill>
            <a:srgbClr val="6DBF67"/>
          </a:solidFill>
          <a:ln w="12700">
            <a:solidFill>
              <a:srgbClr val="6DBF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Budget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A4D3E"/>
          </a:solidFill>
          <a:ln w="12700">
            <a:solidFill>
              <a:srgbClr val="2A4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88"/>
                </a:solidFill>
              </a:rPr>
              <a:t>Online Exam &amp; Plagiarism Detection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491947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BF67"/>
                </a:solidFill>
              </a:rPr>
              <a:t>14 / 14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621792"/>
          <a:ext cx="6400800" cy="401116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2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2F"/>
                          </a:solidFill>
                        </a:rPr>
                        <a:t>Item / Description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2F"/>
                          </a:solidFill>
                        </a:rPr>
                        <a:t>Qty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2F"/>
                          </a:solidFill>
                        </a:rPr>
                        <a:t>Amount (ZMK)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VPS Hosting (Spring Boot app, 6 months)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6 mo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1,260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Domain Registration + SSL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780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Transportation &amp; User Testing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Lump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1,500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Research Materials &amp; Stationery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900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Printing (proposals, reports)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480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Contingency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7AAF88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6DBF67"/>
                          </a:solidFill>
                        </a:rPr>
                        <a:t>K 80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3A2F"/>
                          </a:solidFill>
                        </a:rPr>
                        <a:t>TOTAL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1E3A2F"/>
                          </a:solidFill>
                        </a:rPr>
                        <a:t>K 5,000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F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971</Words>
  <Application>Microsoft Office PowerPoint</Application>
  <PresentationFormat>On-screen Show (16:9)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Musonda</cp:lastModifiedBy>
  <cp:revision>4</cp:revision>
  <dcterms:created xsi:type="dcterms:W3CDTF">2026-04-23T08:14:25Z</dcterms:created>
  <dcterms:modified xsi:type="dcterms:W3CDTF">2026-04-24T15:27:50Z</dcterms:modified>
</cp:coreProperties>
</file>