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8" r:id="rId5"/>
    <p:sldId id="320" r:id="rId6"/>
    <p:sldId id="311" r:id="rId7"/>
    <p:sldId id="312" r:id="rId8"/>
    <p:sldId id="313" r:id="rId9"/>
    <p:sldId id="314" r:id="rId10"/>
    <p:sldId id="315" r:id="rId11"/>
    <p:sldId id="316" r:id="rId12"/>
    <p:sldId id="324" r:id="rId13"/>
    <p:sldId id="323" r:id="rId14"/>
    <p:sldId id="325" r:id="rId15"/>
    <p:sldId id="317" r:id="rId16"/>
    <p:sldId id="318" r:id="rId17"/>
    <p:sldId id="32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19" autoAdjust="0"/>
  </p:normalViewPr>
  <p:slideViewPr>
    <p:cSldViewPr snapToGrid="0">
      <p:cViewPr varScale="1">
        <p:scale>
          <a:sx n="89" d="100"/>
          <a:sy n="89" d="100"/>
        </p:scale>
        <p:origin x="461"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5/15/2026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5/15/2026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5/15/2026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5/15/2026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5/15/2026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5/15/2026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5/15/2026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5/15/2026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5/15/2026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5/15/2026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26233" y="2708448"/>
            <a:ext cx="9863487" cy="1695338"/>
          </a:xfrm>
        </p:spPr>
        <p:txBody>
          <a:bodyPr>
            <a:normAutofit/>
          </a:bodyPr>
          <a:lstStyle/>
          <a:p>
            <a:r>
              <a:rPr lang="en-US" sz="4800" b="1" dirty="0"/>
              <a:t>E-Commerce Platform</a:t>
            </a:r>
            <a:br>
              <a:rPr lang="en-US" sz="4800" b="1" dirty="0"/>
            </a:br>
            <a:r>
              <a:rPr lang="en-US" sz="4800" b="1" dirty="0"/>
              <a:t>with Recommendation Engine</a:t>
            </a:r>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26233" y="4498925"/>
            <a:ext cx="4687639" cy="1505058"/>
          </a:xfrm>
        </p:spPr>
        <p:txBody>
          <a:bodyPr>
            <a:noAutofit/>
          </a:bodyPr>
          <a:lstStyle/>
          <a:p>
            <a:pPr>
              <a:lnSpc>
                <a:spcPct val="100000"/>
              </a:lnSpc>
            </a:pPr>
            <a:r>
              <a:rPr lang="en-US" sz="1800" b="1" dirty="0">
                <a:solidFill>
                  <a:schemeClr val="tx1">
                    <a:lumMod val="85000"/>
                    <a:lumOff val="15000"/>
                  </a:schemeClr>
                </a:solidFill>
              </a:rPr>
              <a:t>SILUYELE MOCLEST   2300547</a:t>
            </a:r>
          </a:p>
          <a:p>
            <a:pPr>
              <a:lnSpc>
                <a:spcPct val="100000"/>
              </a:lnSpc>
            </a:pPr>
            <a:r>
              <a:rPr lang="en-US" sz="1800" b="1" dirty="0">
                <a:solidFill>
                  <a:schemeClr val="tx1">
                    <a:lumMod val="85000"/>
                    <a:lumOff val="15000"/>
                  </a:schemeClr>
                </a:solidFill>
              </a:rPr>
              <a:t>NATASHA MWANZA   2410785</a:t>
            </a:r>
          </a:p>
          <a:p>
            <a:pPr>
              <a:lnSpc>
                <a:spcPct val="100000"/>
              </a:lnSpc>
            </a:pPr>
            <a:r>
              <a:rPr lang="en-US" sz="1800" b="1" dirty="0">
                <a:solidFill>
                  <a:schemeClr val="tx1">
                    <a:lumMod val="85000"/>
                    <a:lumOff val="15000"/>
                  </a:schemeClr>
                </a:solidFill>
              </a:rPr>
              <a:t>MWIINGA JEROME   2410805</a:t>
            </a: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00F5B1C-C207-6567-C854-7D2090986915}"/>
              </a:ext>
            </a:extLst>
          </p:cNvPr>
          <p:cNvPicPr>
            <a:picLocks noChangeAspect="1"/>
          </p:cNvPicPr>
          <p:nvPr/>
        </p:nvPicPr>
        <p:blipFill>
          <a:blip r:embed="rId3"/>
          <a:stretch>
            <a:fillRect/>
          </a:stretch>
        </p:blipFill>
        <p:spPr>
          <a:xfrm>
            <a:off x="4349383" y="-415038"/>
            <a:ext cx="3493233" cy="3493233"/>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F4366-1584-C5A3-B793-49E6AD3D96FA}"/>
              </a:ext>
            </a:extLst>
          </p:cNvPr>
          <p:cNvSpPr>
            <a:spLocks noGrp="1"/>
          </p:cNvSpPr>
          <p:nvPr>
            <p:ph type="title"/>
          </p:nvPr>
        </p:nvSpPr>
        <p:spPr>
          <a:xfrm>
            <a:off x="548640" y="263529"/>
            <a:ext cx="11094720" cy="1450757"/>
          </a:xfrm>
        </p:spPr>
        <p:txBody>
          <a:bodyPr/>
          <a:lstStyle/>
          <a:p>
            <a:r>
              <a:rPr lang="en-US" dirty="0"/>
              <a:t>INTRODUCTION AND BACKGROUND</a:t>
            </a:r>
            <a:endParaRPr lang="en-ZM" dirty="0"/>
          </a:p>
        </p:txBody>
      </p:sp>
      <p:sp>
        <p:nvSpPr>
          <p:cNvPr id="3" name="Content Placeholder 2">
            <a:extLst>
              <a:ext uri="{FF2B5EF4-FFF2-40B4-BE49-F238E27FC236}">
                <a16:creationId xmlns:a16="http://schemas.microsoft.com/office/drawing/2014/main" id="{2FE4F1DF-313D-B5EC-3507-2B47C8F7A99A}"/>
              </a:ext>
            </a:extLst>
          </p:cNvPr>
          <p:cNvSpPr>
            <a:spLocks noGrp="1"/>
          </p:cNvSpPr>
          <p:nvPr>
            <p:ph idx="1"/>
          </p:nvPr>
        </p:nvSpPr>
        <p:spPr/>
        <p:txBody>
          <a:bodyPr>
            <a:noAutofit/>
          </a:bodyPr>
          <a:lstStyle/>
          <a:p>
            <a:r>
              <a:rPr lang="en-US" sz="2000" dirty="0"/>
              <a:t>E-commerce is growing rapidly in Zambia, but most local platforms offer static product listings with no personalization. Shoppers are overwhelmed by choice while relevant products remain undiscovered, reducing conversion rates and retention.</a:t>
            </a:r>
          </a:p>
          <a:p>
            <a:r>
              <a:rPr lang="en-US" sz="2000" dirty="0"/>
              <a:t>Collaborative filtering analyses shared purchase and browsing behavior to surface products a user is likely to buy. Combined with a React/Node.js full-stack implementing proven software design patterns, this creates a scalable, intelligent retail platform relevant to the Zambian market.</a:t>
            </a:r>
          </a:p>
          <a:p>
            <a:endParaRPr lang="en-US" sz="2000" dirty="0"/>
          </a:p>
        </p:txBody>
      </p:sp>
    </p:spTree>
    <p:extLst>
      <p:ext uri="{BB962C8B-B14F-4D97-AF65-F5344CB8AC3E}">
        <p14:creationId xmlns:p14="http://schemas.microsoft.com/office/powerpoint/2010/main" val="802410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38B18-A970-3C69-A3C3-EDAB8B1F4E25}"/>
              </a:ext>
            </a:extLst>
          </p:cNvPr>
          <p:cNvSpPr>
            <a:spLocks noGrp="1"/>
          </p:cNvSpPr>
          <p:nvPr>
            <p:ph type="title"/>
          </p:nvPr>
        </p:nvSpPr>
        <p:spPr>
          <a:xfrm>
            <a:off x="1066800" y="988908"/>
            <a:ext cx="10058400" cy="725378"/>
          </a:xfrm>
        </p:spPr>
        <p:txBody>
          <a:bodyPr>
            <a:normAutofit fontScale="90000"/>
          </a:bodyPr>
          <a:lstStyle/>
          <a:p>
            <a:r>
              <a:rPr lang="en-US" dirty="0"/>
              <a:t>RESEARCH PROBLEM</a:t>
            </a:r>
            <a:endParaRPr lang="en-ZM" dirty="0"/>
          </a:p>
        </p:txBody>
      </p:sp>
      <p:sp>
        <p:nvSpPr>
          <p:cNvPr id="3" name="Content Placeholder 2">
            <a:extLst>
              <a:ext uri="{FF2B5EF4-FFF2-40B4-BE49-F238E27FC236}">
                <a16:creationId xmlns:a16="http://schemas.microsoft.com/office/drawing/2014/main" id="{CE5DA0C7-1E37-A26B-0CE0-8D338BE9CD6E}"/>
              </a:ext>
            </a:extLst>
          </p:cNvPr>
          <p:cNvSpPr>
            <a:spLocks noGrp="1"/>
          </p:cNvSpPr>
          <p:nvPr>
            <p:ph idx="1"/>
          </p:nvPr>
        </p:nvSpPr>
        <p:spPr/>
        <p:txBody>
          <a:bodyPr>
            <a:noAutofit/>
          </a:bodyPr>
          <a:lstStyle/>
          <a:p>
            <a:pPr>
              <a:buFont typeface="Wingdings" panose="05000000000000000000" pitchFamily="2" charset="2"/>
              <a:buChar char="§"/>
            </a:pPr>
            <a:r>
              <a:rPr lang="en-GB" sz="2400" dirty="0"/>
              <a:t>  </a:t>
            </a:r>
            <a:r>
              <a:rPr lang="en-US" sz="2800" dirty="0"/>
              <a:t>Most local platforms present identical product listings to every visitor regardless of behavior or preferences.</a:t>
            </a:r>
          </a:p>
          <a:p>
            <a:pPr>
              <a:buFont typeface="Wingdings" panose="05000000000000000000" pitchFamily="2" charset="2"/>
              <a:buChar char="§"/>
            </a:pPr>
            <a:r>
              <a:rPr lang="en-GB" sz="2800" dirty="0"/>
              <a:t> </a:t>
            </a:r>
            <a:r>
              <a:rPr lang="en-US" sz="2800" dirty="0"/>
              <a:t>Without relevant product suggestions at checkout, shoppers leave without discovering items they would have purchased.</a:t>
            </a:r>
          </a:p>
          <a:p>
            <a:pPr>
              <a:buFont typeface="Wingdings" panose="05000000000000000000" pitchFamily="2" charset="2"/>
              <a:buChar char="§"/>
            </a:pPr>
            <a:r>
              <a:rPr lang="en-US" sz="2800" dirty="0"/>
              <a:t> Platforms built without design patterns are brittle and unable to handle catalogue or traffic growth.</a:t>
            </a:r>
          </a:p>
          <a:p>
            <a:pPr>
              <a:buFont typeface="Wingdings" panose="05000000000000000000" pitchFamily="2" charset="2"/>
              <a:buChar char="§"/>
            </a:pPr>
            <a:endParaRPr lang="en-US" sz="2800" dirty="0"/>
          </a:p>
          <a:p>
            <a:pPr marL="0" indent="0">
              <a:buNone/>
            </a:pPr>
            <a:r>
              <a:rPr lang="en-US" sz="2800" dirty="0"/>
              <a:t>      </a:t>
            </a:r>
          </a:p>
          <a:p>
            <a:pPr>
              <a:buFont typeface="Wingdings" panose="05000000000000000000" pitchFamily="2" charset="2"/>
              <a:buChar char="§"/>
            </a:pPr>
            <a:endParaRPr lang="en-US" sz="2800" dirty="0"/>
          </a:p>
          <a:p>
            <a:r>
              <a:rPr lang="en-US" sz="2800" b="1" dirty="0"/>
              <a:t> </a:t>
            </a:r>
            <a:endParaRPr lang="en-US" sz="2800" dirty="0"/>
          </a:p>
          <a:p>
            <a:pPr marL="0" indent="0">
              <a:buNone/>
            </a:pPr>
            <a:r>
              <a:rPr lang="en-GB" sz="2400" dirty="0"/>
              <a:t>. </a:t>
            </a:r>
          </a:p>
        </p:txBody>
      </p:sp>
    </p:spTree>
    <p:extLst>
      <p:ext uri="{BB962C8B-B14F-4D97-AF65-F5344CB8AC3E}">
        <p14:creationId xmlns:p14="http://schemas.microsoft.com/office/powerpoint/2010/main" val="3550096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11E2-12DC-41C1-B85B-52DFD3F332C0}"/>
              </a:ext>
            </a:extLst>
          </p:cNvPr>
          <p:cNvSpPr>
            <a:spLocks noGrp="1"/>
          </p:cNvSpPr>
          <p:nvPr>
            <p:ph type="title"/>
          </p:nvPr>
        </p:nvSpPr>
        <p:spPr/>
        <p:txBody>
          <a:bodyPr/>
          <a:lstStyle/>
          <a:p>
            <a:r>
              <a:rPr lang="en-US" dirty="0"/>
              <a:t>LITERATURE REVIEW</a:t>
            </a:r>
            <a:endParaRPr lang="en-ZM" dirty="0"/>
          </a:p>
        </p:txBody>
      </p:sp>
      <p:graphicFrame>
        <p:nvGraphicFramePr>
          <p:cNvPr id="5" name="Table 0">
            <a:extLst>
              <a:ext uri="{FF2B5EF4-FFF2-40B4-BE49-F238E27FC236}">
                <a16:creationId xmlns:a16="http://schemas.microsoft.com/office/drawing/2014/main" id="{419D241E-1062-8200-5B5B-E1FE580550A2}"/>
              </a:ext>
            </a:extLst>
          </p:cNvPr>
          <p:cNvGraphicFramePr>
            <a:graphicFrameLocks noGrp="1"/>
          </p:cNvGraphicFramePr>
          <p:nvPr>
            <p:extLst>
              <p:ext uri="{D42A27DB-BD31-4B8C-83A1-F6EECF244321}">
                <p14:modId xmlns:p14="http://schemas.microsoft.com/office/powerpoint/2010/main" val="3590631189"/>
              </p:ext>
            </p:extLst>
          </p:nvPr>
        </p:nvGraphicFramePr>
        <p:xfrm>
          <a:off x="560717" y="1923692"/>
          <a:ext cx="11102196" cy="4469704"/>
        </p:xfrm>
        <a:graphic>
          <a:graphicData uri="http://schemas.openxmlformats.org/drawingml/2006/table">
            <a:tbl>
              <a:tblPr/>
              <a:tblGrid>
                <a:gridCol w="2197310">
                  <a:extLst>
                    <a:ext uri="{9D8B030D-6E8A-4147-A177-3AD203B41FA5}">
                      <a16:colId xmlns:a16="http://schemas.microsoft.com/office/drawing/2014/main" val="20000"/>
                    </a:ext>
                  </a:extLst>
                </a:gridCol>
                <a:gridCol w="2428605">
                  <a:extLst>
                    <a:ext uri="{9D8B030D-6E8A-4147-A177-3AD203B41FA5}">
                      <a16:colId xmlns:a16="http://schemas.microsoft.com/office/drawing/2014/main" val="20001"/>
                    </a:ext>
                  </a:extLst>
                </a:gridCol>
                <a:gridCol w="3353788">
                  <a:extLst>
                    <a:ext uri="{9D8B030D-6E8A-4147-A177-3AD203B41FA5}">
                      <a16:colId xmlns:a16="http://schemas.microsoft.com/office/drawing/2014/main" val="20002"/>
                    </a:ext>
                  </a:extLst>
                </a:gridCol>
                <a:gridCol w="3122493">
                  <a:extLst>
                    <a:ext uri="{9D8B030D-6E8A-4147-A177-3AD203B41FA5}">
                      <a16:colId xmlns:a16="http://schemas.microsoft.com/office/drawing/2014/main" val="20003"/>
                    </a:ext>
                  </a:extLst>
                </a:gridCol>
              </a:tblGrid>
              <a:tr h="381044">
                <a:tc>
                  <a:txBody>
                    <a:bodyPr/>
                    <a:lstStyle/>
                    <a:p>
                      <a:pPr marL="0" indent="0">
                        <a:buNone/>
                      </a:pPr>
                      <a:r>
                        <a:rPr lang="en-US" sz="1400" b="1" dirty="0">
                          <a:solidFill>
                            <a:srgbClr val="FFFFFF"/>
                          </a:solidFill>
                        </a:rPr>
                        <a:t>Author &amp; Year</a:t>
                      </a:r>
                      <a:endParaRPr lang="en-US" sz="1400" dirty="0"/>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232323"/>
                    </a:solidFill>
                  </a:tcPr>
                </a:tc>
                <a:tc>
                  <a:txBody>
                    <a:bodyPr/>
                    <a:lstStyle/>
                    <a:p>
                      <a:pPr marL="0" indent="0">
                        <a:buNone/>
                      </a:pPr>
                      <a:r>
                        <a:rPr lang="en-US" sz="1400" b="1" dirty="0">
                          <a:solidFill>
                            <a:srgbClr val="FFFFFF"/>
                          </a:solidFill>
                        </a:rPr>
                        <a:t>Title</a:t>
                      </a:r>
                      <a:endParaRPr lang="en-US" sz="1400" dirty="0"/>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232323"/>
                    </a:solidFill>
                  </a:tcPr>
                </a:tc>
                <a:tc>
                  <a:txBody>
                    <a:bodyPr/>
                    <a:lstStyle/>
                    <a:p>
                      <a:pPr marL="0" indent="0">
                        <a:buNone/>
                      </a:pPr>
                      <a:r>
                        <a:rPr lang="en-US" sz="1400" b="1" dirty="0">
                          <a:solidFill>
                            <a:srgbClr val="FFFFFF"/>
                          </a:solidFill>
                        </a:rPr>
                        <a:t>Contribution</a:t>
                      </a:r>
                      <a:endParaRPr lang="en-US" sz="1400" dirty="0"/>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232323"/>
                    </a:solidFill>
                  </a:tcPr>
                </a:tc>
                <a:tc>
                  <a:txBody>
                    <a:bodyPr/>
                    <a:lstStyle/>
                    <a:p>
                      <a:pPr marL="0" indent="0">
                        <a:buNone/>
                      </a:pPr>
                      <a:r>
                        <a:rPr lang="en-US" sz="1400" b="1" dirty="0">
                          <a:solidFill>
                            <a:srgbClr val="FFFFFF"/>
                          </a:solidFill>
                        </a:rPr>
                        <a:t>Gap</a:t>
                      </a:r>
                      <a:endParaRPr lang="en-US" sz="1400" dirty="0"/>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232323"/>
                    </a:solidFill>
                  </a:tcPr>
                </a:tc>
                <a:extLst>
                  <a:ext uri="{0D108BD9-81ED-4DB2-BD59-A6C34878D82A}">
                    <a16:rowId xmlns:a16="http://schemas.microsoft.com/office/drawing/2014/main" val="10000"/>
                  </a:ext>
                </a:extLst>
              </a:tr>
              <a:tr h="1558820">
                <a:tc>
                  <a:txBody>
                    <a:bodyPr/>
                    <a:lstStyle/>
                    <a:p>
                      <a:pPr marL="0" indent="0">
                        <a:buNone/>
                      </a:pPr>
                      <a:r>
                        <a:rPr lang="en-US" sz="1400" dirty="0"/>
                        <a:t>Wu et al. (2024)</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tc>
                  <a:txBody>
                    <a:bodyPr/>
                    <a:lstStyle/>
                    <a:p>
                      <a:pPr marL="0" indent="0">
                        <a:buNone/>
                      </a:pPr>
                      <a:r>
                        <a:rPr lang="en-US" sz="1400" dirty="0">
                          <a:solidFill>
                            <a:srgbClr val="1E1E1E"/>
                          </a:solidFill>
                        </a:rPr>
                        <a:t>Emerging Trends in Real-Time Recommendation Systems</a:t>
                      </a:r>
                      <a:endParaRPr lang="en-US" sz="1400" dirty="0"/>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tc>
                  <a:txBody>
                    <a:bodyPr/>
                    <a:lstStyle/>
                    <a:p>
                      <a:pPr marL="0" indent="0">
                        <a:buNone/>
                      </a:pPr>
                      <a:r>
                        <a:rPr lang="en-US" sz="1400" dirty="0">
                          <a:solidFill>
                            <a:srgbClr val="1E1E1E"/>
                          </a:solidFill>
                        </a:rPr>
                        <a:t>Tests real-time recommendation algorithm precision, recall, NDCG, and conversion rate on e-commerce platforms, showing that real-time systems handle contextual product suggestions through streaming data and live user interactions. </a:t>
                      </a:r>
                      <a:endParaRPr lang="en-US" sz="1400" dirty="0"/>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tc>
                  <a:txBody>
                    <a:bodyPr/>
                    <a:lstStyle/>
                    <a:p>
                      <a:pPr marL="0" indent="0">
                        <a:buNone/>
                      </a:pPr>
                      <a:r>
                        <a:rPr lang="en-US" sz="1400" dirty="0"/>
                        <a:t>Focused on large Chinese platforms with established data infrastructure — not applicable to smaller-scale deployments.</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50978">
                <a:tc>
                  <a:txBody>
                    <a:bodyPr/>
                    <a:lstStyle/>
                    <a:p>
                      <a:pPr marL="0" indent="0">
                        <a:buNone/>
                      </a:pPr>
                      <a:r>
                        <a:rPr lang="en-US" sz="1400" dirty="0"/>
                        <a:t>Ni et al. / ScienceDirect (2025)</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BF3DF"/>
                    </a:solidFill>
                  </a:tcPr>
                </a:tc>
                <a:tc>
                  <a:txBody>
                    <a:bodyPr/>
                    <a:lstStyle/>
                    <a:p>
                      <a:pPr marL="0" indent="0">
                        <a:buNone/>
                      </a:pPr>
                      <a:r>
                        <a:rPr lang="en-US" sz="1400" dirty="0"/>
                        <a:t>Product Collaborative Filtering for Large-Scale E-Commerce</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BF3DF"/>
                    </a:solidFill>
                  </a:tcPr>
                </a:tc>
                <a:tc>
                  <a:txBody>
                    <a:bodyPr/>
                    <a:lstStyle/>
                    <a:p>
                      <a:pPr marL="0" indent="0">
                        <a:buNone/>
                      </a:pPr>
                      <a:r>
                        <a:rPr lang="en-US" sz="1400" dirty="0"/>
                        <a:t>Demonstrates matrix factorization for collaborative filtering, showing how latent factor models predict user-specific item ratings by uncovering the underlying structure of the rating matrix.</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BF3DF"/>
                    </a:solidFill>
                  </a:tcPr>
                </a:tc>
                <a:tc>
                  <a:txBody>
                    <a:bodyPr/>
                    <a:lstStyle/>
                    <a:p>
                      <a:pPr marL="0" indent="0">
                        <a:buNone/>
                      </a:pPr>
                      <a:r>
                        <a:rPr lang="en-US" sz="1400" dirty="0"/>
                        <a:t>Demonstrates matrix factorization for collaborative filtering, showing how latent factor models predict user-specific item ratings by uncovering the underlying structure of the rating matrix.</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BF3DF"/>
                    </a:solidFill>
                  </a:tcPr>
                </a:tc>
                <a:extLst>
                  <a:ext uri="{0D108BD9-81ED-4DB2-BD59-A6C34878D82A}">
                    <a16:rowId xmlns:a16="http://schemas.microsoft.com/office/drawing/2014/main" val="10002"/>
                  </a:ext>
                </a:extLst>
              </a:tr>
              <a:tr h="1143134">
                <a:tc>
                  <a:txBody>
                    <a:bodyPr/>
                    <a:lstStyle/>
                    <a:p>
                      <a:pPr marL="0" indent="0">
                        <a:buNone/>
                      </a:pPr>
                      <a:r>
                        <a:rPr lang="en-US" sz="1400" dirty="0"/>
                        <a:t>Khatter et al. cited in IIETA (2024)</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tc>
                  <a:txBody>
                    <a:bodyPr/>
                    <a:lstStyle/>
                    <a:p>
                      <a:pPr marL="0" indent="0">
                        <a:buNone/>
                      </a:pPr>
                      <a:r>
                        <a:rPr lang="en-US" sz="1400" dirty="0"/>
                        <a:t>Recommendation System for E-Commerce Using Collaborative Filtering</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tc>
                  <a:txBody>
                    <a:bodyPr/>
                    <a:lstStyle/>
                    <a:p>
                      <a:pPr marL="0" indent="0">
                        <a:buNone/>
                      </a:pPr>
                      <a:r>
                        <a:rPr lang="en-US" sz="1400" dirty="0"/>
                        <a:t>Proposes combining collaborative filtering with textual clustering to enhance recommendation accuracy by considering both user-item interactions and product descriptions.</a:t>
                      </a:r>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tc>
                  <a:txBody>
                    <a:bodyPr/>
                    <a:lstStyle/>
                    <a:p>
                      <a:pPr marL="0" indent="0">
                        <a:buNone/>
                      </a:pPr>
                      <a:r>
                        <a:rPr lang="en-US" sz="1400" dirty="0">
                          <a:solidFill>
                            <a:srgbClr val="1E1E1E"/>
                          </a:solidFill>
                        </a:rPr>
                        <a:t>Does not address real-time delivery or integration with a full-stack application.</a:t>
                      </a:r>
                      <a:endParaRPr lang="en-US" sz="1400" dirty="0"/>
                    </a:p>
                  </a:txBody>
                  <a:tcPr>
                    <a:lnL w="6350" cap="flat" cmpd="sng" algn="ctr">
                      <a:solidFill>
                        <a:srgbClr val="FBF3DF"/>
                      </a:solidFill>
                      <a:prstDash val="solid"/>
                      <a:round/>
                      <a:headEnd type="none" w="med" len="med"/>
                      <a:tailEnd type="none" w="med" len="med"/>
                    </a:lnL>
                    <a:lnR w="6350" cap="flat" cmpd="sng" algn="ctr">
                      <a:solidFill>
                        <a:srgbClr val="FBF3DF"/>
                      </a:solidFill>
                      <a:prstDash val="solid"/>
                      <a:round/>
                      <a:headEnd type="none" w="med" len="med"/>
                      <a:tailEnd type="none" w="med" len="med"/>
                    </a:lnR>
                    <a:lnT w="6350" cap="flat" cmpd="sng" algn="ctr">
                      <a:solidFill>
                        <a:srgbClr val="FBF3DF"/>
                      </a:solidFill>
                      <a:prstDash val="solid"/>
                      <a:round/>
                      <a:headEnd type="none" w="med" len="med"/>
                      <a:tailEnd type="none" w="med" len="med"/>
                    </a:lnT>
                    <a:lnB w="6350" cap="flat" cmpd="sng" algn="ctr">
                      <a:solidFill>
                        <a:srgbClr val="FBF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4030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C6A3C-A0FA-0CFA-BCB6-4E8AAA0F9479}"/>
              </a:ext>
            </a:extLst>
          </p:cNvPr>
          <p:cNvSpPr>
            <a:spLocks noGrp="1"/>
          </p:cNvSpPr>
          <p:nvPr>
            <p:ph type="title"/>
          </p:nvPr>
        </p:nvSpPr>
        <p:spPr/>
        <p:txBody>
          <a:bodyPr/>
          <a:lstStyle/>
          <a:p>
            <a:r>
              <a:rPr lang="en-US" dirty="0"/>
              <a:t>RESEARCH OBJECTIVES</a:t>
            </a:r>
            <a:endParaRPr lang="en-ZM" dirty="0"/>
          </a:p>
        </p:txBody>
      </p:sp>
      <p:sp>
        <p:nvSpPr>
          <p:cNvPr id="3" name="Content Placeholder 2">
            <a:extLst>
              <a:ext uri="{FF2B5EF4-FFF2-40B4-BE49-F238E27FC236}">
                <a16:creationId xmlns:a16="http://schemas.microsoft.com/office/drawing/2014/main" id="{01965EEC-E22E-9C6D-12C5-3274C39BDCE5}"/>
              </a:ext>
            </a:extLst>
          </p:cNvPr>
          <p:cNvSpPr>
            <a:spLocks noGrp="1"/>
          </p:cNvSpPr>
          <p:nvPr>
            <p:ph idx="1"/>
          </p:nvPr>
        </p:nvSpPr>
        <p:spPr>
          <a:xfrm>
            <a:off x="1097280" y="1996057"/>
            <a:ext cx="10058400" cy="3760891"/>
          </a:xfrm>
        </p:spPr>
        <p:txBody>
          <a:bodyPr>
            <a:noAutofit/>
          </a:bodyPr>
          <a:lstStyle/>
          <a:p>
            <a:pPr marL="514350" indent="-514350">
              <a:buFont typeface="+mj-lt"/>
              <a:buAutoNum type="arabicPeriod"/>
            </a:pPr>
            <a:r>
              <a:rPr lang="en-US" sz="2800" dirty="0"/>
              <a:t>To implement a collaborative filtering recommendation engine that delivers real-time </a:t>
            </a:r>
            <a:r>
              <a:rPr lang="en-US" sz="2800" dirty="0" err="1"/>
              <a:t>personalised</a:t>
            </a:r>
            <a:r>
              <a:rPr lang="en-US" sz="2800" dirty="0"/>
              <a:t> product suggestions.</a:t>
            </a:r>
          </a:p>
          <a:p>
            <a:pPr marL="514350" indent="-514350">
              <a:buFont typeface="+mj-lt"/>
              <a:buAutoNum type="arabicPeriod"/>
            </a:pPr>
            <a:r>
              <a:rPr lang="en-US" sz="2800" dirty="0"/>
              <a:t>To build a full-stack e-commerce platform using React and Node.js with Repository, MVC, and Observer design patterns.</a:t>
            </a:r>
          </a:p>
          <a:p>
            <a:pPr marL="514350" indent="-514350">
              <a:buFont typeface="+mj-lt"/>
              <a:buAutoNum type="arabicPeriod"/>
            </a:pPr>
            <a:r>
              <a:rPr lang="en-US" sz="2800" dirty="0"/>
              <a:t>To evaluate the recommendation engine's precision and recall against a non-</a:t>
            </a:r>
            <a:r>
              <a:rPr lang="en-US" sz="2800" dirty="0" err="1"/>
              <a:t>personalised</a:t>
            </a:r>
            <a:r>
              <a:rPr lang="en-US" sz="2800" dirty="0"/>
              <a:t> baseline under concurrent load.</a:t>
            </a:r>
          </a:p>
        </p:txBody>
      </p:sp>
    </p:spTree>
    <p:extLst>
      <p:ext uri="{BB962C8B-B14F-4D97-AF65-F5344CB8AC3E}">
        <p14:creationId xmlns:p14="http://schemas.microsoft.com/office/powerpoint/2010/main" val="1182219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58B9E-0342-5584-E33D-61E29450738D}"/>
              </a:ext>
            </a:extLst>
          </p:cNvPr>
          <p:cNvSpPr>
            <a:spLocks noGrp="1"/>
          </p:cNvSpPr>
          <p:nvPr>
            <p:ph type="title"/>
          </p:nvPr>
        </p:nvSpPr>
        <p:spPr/>
        <p:txBody>
          <a:bodyPr/>
          <a:lstStyle/>
          <a:p>
            <a:r>
              <a:rPr lang="en-US" dirty="0"/>
              <a:t>RESEARCH QUESTIONS</a:t>
            </a:r>
            <a:endParaRPr lang="en-ZM" dirty="0"/>
          </a:p>
        </p:txBody>
      </p:sp>
      <p:sp>
        <p:nvSpPr>
          <p:cNvPr id="3" name="Content Placeholder 2">
            <a:extLst>
              <a:ext uri="{FF2B5EF4-FFF2-40B4-BE49-F238E27FC236}">
                <a16:creationId xmlns:a16="http://schemas.microsoft.com/office/drawing/2014/main" id="{F03D952D-3AD3-01C9-0DFD-F862E1D771FA}"/>
              </a:ext>
            </a:extLst>
          </p:cNvPr>
          <p:cNvSpPr>
            <a:spLocks noGrp="1"/>
          </p:cNvSpPr>
          <p:nvPr>
            <p:ph idx="1"/>
          </p:nvPr>
        </p:nvSpPr>
        <p:spPr/>
        <p:txBody>
          <a:bodyPr>
            <a:normAutofit/>
          </a:bodyPr>
          <a:lstStyle/>
          <a:p>
            <a:pPr marL="514350" indent="-514350">
              <a:buFont typeface="+mj-lt"/>
              <a:buAutoNum type="arabicPeriod"/>
            </a:pPr>
            <a:r>
              <a:rPr lang="en-US" sz="2800" dirty="0"/>
              <a:t>How can collaborative filtering be implemented to deliver real-time personalized product suggestions?</a:t>
            </a:r>
          </a:p>
          <a:p>
            <a:pPr marL="514350" indent="-514350">
              <a:buFont typeface="+mj-lt"/>
              <a:buAutoNum type="arabicPeriod"/>
            </a:pPr>
            <a:r>
              <a:rPr lang="en-US" sz="2800" dirty="0"/>
              <a:t>How can Repository, MVC, and Observer patterns be applied to build a maintainable, scalable e-commerce platform?</a:t>
            </a:r>
          </a:p>
          <a:p>
            <a:pPr marL="514350" indent="-514350">
              <a:buFont typeface="+mj-lt"/>
              <a:buAutoNum type="arabicPeriod"/>
            </a:pPr>
            <a:r>
              <a:rPr lang="en-US" sz="2800" dirty="0"/>
              <a:t>How does the recommendation engine's precision and recall compare to a non-personalized baseline under concurrent load?</a:t>
            </a:r>
            <a:endParaRPr lang="en-ZM" sz="2800" dirty="0"/>
          </a:p>
        </p:txBody>
      </p:sp>
    </p:spTree>
    <p:extLst>
      <p:ext uri="{BB962C8B-B14F-4D97-AF65-F5344CB8AC3E}">
        <p14:creationId xmlns:p14="http://schemas.microsoft.com/office/powerpoint/2010/main" val="3364076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E92EA-6668-4F8E-71C3-F6A83B4A9C6A}"/>
              </a:ext>
            </a:extLst>
          </p:cNvPr>
          <p:cNvSpPr>
            <a:spLocks noGrp="1"/>
          </p:cNvSpPr>
          <p:nvPr>
            <p:ph type="title"/>
          </p:nvPr>
        </p:nvSpPr>
        <p:spPr/>
        <p:txBody>
          <a:bodyPr/>
          <a:lstStyle/>
          <a:p>
            <a:r>
              <a:rPr lang="en-US" dirty="0"/>
              <a:t>SCOPE OF STUDY</a:t>
            </a:r>
            <a:endParaRPr lang="en-ZM" dirty="0"/>
          </a:p>
        </p:txBody>
      </p:sp>
      <p:sp>
        <p:nvSpPr>
          <p:cNvPr id="3" name="Content Placeholder 2">
            <a:extLst>
              <a:ext uri="{FF2B5EF4-FFF2-40B4-BE49-F238E27FC236}">
                <a16:creationId xmlns:a16="http://schemas.microsoft.com/office/drawing/2014/main" id="{3039AC81-C5D6-96BB-9A97-7470215274D5}"/>
              </a:ext>
            </a:extLst>
          </p:cNvPr>
          <p:cNvSpPr>
            <a:spLocks noGrp="1"/>
          </p:cNvSpPr>
          <p:nvPr>
            <p:ph idx="1"/>
          </p:nvPr>
        </p:nvSpPr>
        <p:spPr/>
        <p:txBody>
          <a:bodyPr>
            <a:normAutofit/>
          </a:bodyPr>
          <a:lstStyle/>
          <a:p>
            <a:pPr>
              <a:buFont typeface="Arial" panose="020B0604020202020204" pitchFamily="34" charset="0"/>
              <a:buChar char="•"/>
            </a:pPr>
            <a:r>
              <a:rPr lang="en-US" sz="2800" dirty="0"/>
              <a:t>Product catalogue, cart, and checkout</a:t>
            </a:r>
          </a:p>
          <a:p>
            <a:pPr>
              <a:buFont typeface="Arial" panose="020B0604020202020204" pitchFamily="34" charset="0"/>
              <a:buChar char="•"/>
            </a:pPr>
            <a:r>
              <a:rPr lang="en-US" sz="2800" dirty="0"/>
              <a:t>Collaborative filtering recommendation engine</a:t>
            </a:r>
          </a:p>
          <a:p>
            <a:pPr>
              <a:buFont typeface="Arial" panose="020B0604020202020204" pitchFamily="34" charset="0"/>
              <a:buChar char="•"/>
            </a:pPr>
            <a:r>
              <a:rPr lang="en-US" sz="2800" dirty="0"/>
              <a:t>User registration and order history</a:t>
            </a:r>
          </a:p>
          <a:p>
            <a:pPr>
              <a:buFont typeface="Arial" panose="020B0604020202020204" pitchFamily="34" charset="0"/>
              <a:buChar char="•"/>
            </a:pPr>
            <a:r>
              <a:rPr lang="en-US" sz="2800" dirty="0">
                <a:solidFill>
                  <a:srgbClr val="1E1E1E"/>
                </a:solidFill>
                <a:latin typeface="Calibri" pitchFamily="34" charset="0"/>
                <a:ea typeface="Calibri" pitchFamily="34" charset="-122"/>
                <a:cs typeface="Calibri" pitchFamily="34" charset="-120"/>
              </a:rPr>
              <a:t>Performance and accuracy evaluation</a:t>
            </a:r>
            <a:endParaRPr lang="en-US" sz="2800" dirty="0"/>
          </a:p>
          <a:p>
            <a:pPr>
              <a:buFont typeface="Arial" panose="020B0604020202020204" pitchFamily="34" charset="0"/>
              <a:buChar char="•"/>
            </a:pPr>
            <a:r>
              <a:rPr lang="en-US" sz="2800" dirty="0">
                <a:solidFill>
                  <a:srgbClr val="1E1E1E"/>
                </a:solidFill>
                <a:latin typeface="Calibri" pitchFamily="34" charset="0"/>
                <a:ea typeface="Calibri" pitchFamily="34" charset="-122"/>
                <a:cs typeface="Calibri" pitchFamily="34" charset="-120"/>
              </a:rPr>
              <a:t>Admin dashboard for inventory management</a:t>
            </a:r>
            <a:endParaRPr lang="en-US" sz="2800" dirty="0"/>
          </a:p>
          <a:p>
            <a:pPr>
              <a:buFont typeface="Arial" panose="020B0604020202020204" pitchFamily="34" charset="0"/>
              <a:buChar char="•"/>
            </a:pPr>
            <a:endParaRPr lang="en-ZM" sz="2800" dirty="0"/>
          </a:p>
        </p:txBody>
      </p:sp>
    </p:spTree>
    <p:extLst>
      <p:ext uri="{BB962C8B-B14F-4D97-AF65-F5344CB8AC3E}">
        <p14:creationId xmlns:p14="http://schemas.microsoft.com/office/powerpoint/2010/main" val="1487883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44C2-49BB-21FF-05F1-CC3CE135029D}"/>
              </a:ext>
            </a:extLst>
          </p:cNvPr>
          <p:cNvSpPr>
            <a:spLocks noGrp="1"/>
          </p:cNvSpPr>
          <p:nvPr>
            <p:ph type="title"/>
          </p:nvPr>
        </p:nvSpPr>
        <p:spPr/>
        <p:txBody>
          <a:bodyPr/>
          <a:lstStyle/>
          <a:p>
            <a:r>
              <a:rPr lang="en-US" dirty="0"/>
              <a:t>RESEARCH METHODOLOGY</a:t>
            </a:r>
            <a:endParaRPr lang="en-ZM" dirty="0"/>
          </a:p>
        </p:txBody>
      </p:sp>
      <p:sp>
        <p:nvSpPr>
          <p:cNvPr id="3" name="Content Placeholder 2">
            <a:extLst>
              <a:ext uri="{FF2B5EF4-FFF2-40B4-BE49-F238E27FC236}">
                <a16:creationId xmlns:a16="http://schemas.microsoft.com/office/drawing/2014/main" id="{BA4508D8-E998-A429-85B3-AAC6A58E4E12}"/>
              </a:ext>
            </a:extLst>
          </p:cNvPr>
          <p:cNvSpPr>
            <a:spLocks noGrp="1"/>
          </p:cNvSpPr>
          <p:nvPr>
            <p:ph idx="1"/>
          </p:nvPr>
        </p:nvSpPr>
        <p:spPr/>
        <p:txBody>
          <a:bodyPr>
            <a:normAutofit fontScale="92500"/>
          </a:bodyPr>
          <a:lstStyle/>
          <a:p>
            <a:pPr>
              <a:buFont typeface="Arial" panose="020B0604020202020204" pitchFamily="34" charset="0"/>
              <a:buChar char="•"/>
            </a:pPr>
            <a:r>
              <a:rPr lang="en-US" sz="3000" dirty="0"/>
              <a:t>Data collection techniques</a:t>
            </a:r>
          </a:p>
          <a:p>
            <a:pPr lvl="1">
              <a:buFont typeface="Arial" panose="020B0604020202020204" pitchFamily="34" charset="0"/>
              <a:buChar char="•"/>
            </a:pPr>
            <a:r>
              <a:rPr lang="en-US" sz="2800" dirty="0"/>
              <a:t>Literature Reviews serve as the fundamental method for data collection for the proposed project. Through systematic review of existing research, publications, journals and online articles</a:t>
            </a:r>
          </a:p>
          <a:p>
            <a:pPr>
              <a:buFont typeface="Arial" panose="020B0604020202020204" pitchFamily="34" charset="0"/>
              <a:buChar char="•"/>
            </a:pPr>
            <a:r>
              <a:rPr lang="en-US" sz="3000" dirty="0"/>
              <a:t>Design tools </a:t>
            </a:r>
          </a:p>
          <a:p>
            <a:pPr lvl="1">
              <a:buFont typeface="Arial" panose="020B0604020202020204" pitchFamily="34" charset="0"/>
              <a:buChar char="•"/>
            </a:pPr>
            <a:r>
              <a:rPr lang="en-US" sz="2600" dirty="0"/>
              <a:t>Unified Modelling Language (UML) diagrams will serve as the design tool to visualize the system’s Object-oriented structure, the </a:t>
            </a:r>
            <a:r>
              <a:rPr lang="en-US" sz="2600" dirty="0" err="1"/>
              <a:t>behaviours</a:t>
            </a:r>
            <a:r>
              <a:rPr lang="en-US" sz="2600" dirty="0"/>
              <a:t> of the system components and how they interact with each other.</a:t>
            </a:r>
          </a:p>
          <a:p>
            <a:pPr lvl="1">
              <a:buFont typeface="Arial" panose="020B0604020202020204" pitchFamily="34" charset="0"/>
              <a:buChar char="•"/>
            </a:pPr>
            <a:endParaRPr lang="en-US" sz="2800" dirty="0"/>
          </a:p>
          <a:p>
            <a:pPr>
              <a:buFont typeface="Arial" panose="020B0604020202020204" pitchFamily="34" charset="0"/>
              <a:buChar char="•"/>
            </a:pPr>
            <a:endParaRPr lang="en-US" sz="5100" dirty="0"/>
          </a:p>
          <a:p>
            <a:pPr lvl="1"/>
            <a:endParaRPr lang="en-ZM" sz="2800" dirty="0"/>
          </a:p>
        </p:txBody>
      </p:sp>
    </p:spTree>
    <p:extLst>
      <p:ext uri="{BB962C8B-B14F-4D97-AF65-F5344CB8AC3E}">
        <p14:creationId xmlns:p14="http://schemas.microsoft.com/office/powerpoint/2010/main" val="3423333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D9E54-F40E-ED84-4D30-56DA1895B358}"/>
              </a:ext>
            </a:extLst>
          </p:cNvPr>
          <p:cNvSpPr>
            <a:spLocks noGrp="1"/>
          </p:cNvSpPr>
          <p:nvPr>
            <p:ph type="title"/>
          </p:nvPr>
        </p:nvSpPr>
        <p:spPr/>
        <p:txBody>
          <a:bodyPr/>
          <a:lstStyle/>
          <a:p>
            <a:r>
              <a:rPr lang="en-US" dirty="0"/>
              <a:t>RESEARCH METHODOLOGY</a:t>
            </a:r>
            <a:endParaRPr lang="en-ZM" dirty="0"/>
          </a:p>
        </p:txBody>
      </p:sp>
      <p:sp>
        <p:nvSpPr>
          <p:cNvPr id="3" name="Content Placeholder 2">
            <a:extLst>
              <a:ext uri="{FF2B5EF4-FFF2-40B4-BE49-F238E27FC236}">
                <a16:creationId xmlns:a16="http://schemas.microsoft.com/office/drawing/2014/main" id="{F3227E59-D163-2EDE-8C40-41E31729407E}"/>
              </a:ext>
            </a:extLst>
          </p:cNvPr>
          <p:cNvSpPr>
            <a:spLocks noGrp="1"/>
          </p:cNvSpPr>
          <p:nvPr>
            <p:ph idx="1"/>
          </p:nvPr>
        </p:nvSpPr>
        <p:spPr/>
        <p:txBody>
          <a:bodyPr>
            <a:normAutofit/>
          </a:bodyPr>
          <a:lstStyle/>
          <a:p>
            <a:pPr>
              <a:buFont typeface="Arial" panose="020B0604020202020204" pitchFamily="34" charset="0"/>
              <a:buChar char="•"/>
            </a:pPr>
            <a:r>
              <a:rPr lang="en-US" sz="2800" dirty="0"/>
              <a:t>Software development model. </a:t>
            </a:r>
          </a:p>
          <a:p>
            <a:pPr lvl="1">
              <a:buFont typeface="Arial" panose="020B0604020202020204" pitchFamily="34" charset="0"/>
              <a:buChar char="•"/>
            </a:pPr>
            <a:r>
              <a:rPr lang="en-US" sz="2600" dirty="0"/>
              <a:t>SCRUM for Project management</a:t>
            </a:r>
          </a:p>
          <a:p>
            <a:pPr marL="292608" lvl="1" indent="0">
              <a:lnSpc>
                <a:spcPct val="150000"/>
              </a:lnSpc>
              <a:buNone/>
            </a:pPr>
            <a:r>
              <a:rPr lang="en-US" sz="2800" kern="100" dirty="0">
                <a:effectLst/>
                <a:latin typeface="Times New Roman" panose="02020603050405020304" pitchFamily="18" charset="0"/>
                <a:ea typeface="Yu Mincho" panose="02020400000000000000" pitchFamily="18" charset="-128"/>
                <a:cs typeface="Times New Roman" panose="02020603050405020304" pitchFamily="18" charset="0"/>
              </a:rPr>
              <a:t>	Used for Requirement prioritizing, Sprint planning, and 	Progress tracking.</a:t>
            </a:r>
            <a:endParaRPr lang="en-US" sz="2800" dirty="0"/>
          </a:p>
          <a:p>
            <a:pPr lvl="1">
              <a:buFont typeface="Arial" panose="020B0604020202020204" pitchFamily="34" charset="0"/>
              <a:buChar char="•"/>
            </a:pPr>
            <a:r>
              <a:rPr lang="en-US" sz="2800" dirty="0"/>
              <a:t>KANBAN for Programming management</a:t>
            </a:r>
          </a:p>
          <a:p>
            <a:pPr marL="292608" lvl="1" indent="0">
              <a:lnSpc>
                <a:spcPct val="150000"/>
              </a:lnSpc>
              <a:buNone/>
            </a:pPr>
            <a:r>
              <a:rPr lang="en-US" sz="2800" kern="100" dirty="0">
                <a:latin typeface="Times New Roman" panose="02020603050405020304" pitchFamily="18" charset="0"/>
                <a:ea typeface="Yu Mincho" panose="02020400000000000000" pitchFamily="18" charset="-128"/>
                <a:cs typeface="Times New Roman" panose="02020603050405020304" pitchFamily="18" charset="0"/>
              </a:rPr>
              <a:t>	Used for </a:t>
            </a:r>
            <a:r>
              <a:rPr lang="en-US" sz="2800" kern="100" dirty="0">
                <a:effectLst/>
                <a:latin typeface="Times New Roman" panose="02020603050405020304" pitchFamily="18" charset="0"/>
                <a:ea typeface="Yu Mincho" panose="02020400000000000000" pitchFamily="18" charset="-128"/>
                <a:cs typeface="Times New Roman" panose="02020603050405020304" pitchFamily="18" charset="0"/>
              </a:rPr>
              <a:t>Coding, Testing</a:t>
            </a:r>
            <a:r>
              <a:rPr lang="en-US" sz="2800" kern="100" dirty="0">
                <a:latin typeface="Times New Roman" panose="02020603050405020304" pitchFamily="18" charset="0"/>
                <a:ea typeface="Yu Mincho" panose="02020400000000000000" pitchFamily="18" charset="-128"/>
                <a:cs typeface="Times New Roman" panose="02020603050405020304" pitchFamily="18" charset="0"/>
              </a:rPr>
              <a:t>,</a:t>
            </a:r>
            <a:r>
              <a:rPr lang="en-US" sz="2800" kern="100" dirty="0">
                <a:effectLst/>
                <a:latin typeface="Times New Roman" panose="02020603050405020304" pitchFamily="18" charset="0"/>
                <a:ea typeface="Yu Mincho" panose="02020400000000000000" pitchFamily="18" charset="-128"/>
                <a:cs typeface="Times New Roman" panose="02020603050405020304" pitchFamily="18" charset="0"/>
              </a:rPr>
              <a:t> and Debugging.</a:t>
            </a:r>
            <a:endParaRPr lang="en-ZM" sz="2800" kern="100" dirty="0">
              <a:effectLst/>
              <a:latin typeface="Calibri" panose="020F0502020204030204" pitchFamily="34" charset="0"/>
              <a:ea typeface="Yu Mincho" panose="02020400000000000000" pitchFamily="18" charset="-128"/>
              <a:cs typeface="Times New Roman" panose="02020603050405020304" pitchFamily="18" charset="0"/>
            </a:endParaRPr>
          </a:p>
          <a:p>
            <a:endParaRPr lang="en-ZM" dirty="0"/>
          </a:p>
        </p:txBody>
      </p:sp>
    </p:spTree>
    <p:extLst>
      <p:ext uri="{BB962C8B-B14F-4D97-AF65-F5344CB8AC3E}">
        <p14:creationId xmlns:p14="http://schemas.microsoft.com/office/powerpoint/2010/main" val="1508045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81C24-A174-DF21-C76D-00A83ED0A086}"/>
              </a:ext>
            </a:extLst>
          </p:cNvPr>
          <p:cNvSpPr>
            <a:spLocks noGrp="1"/>
          </p:cNvSpPr>
          <p:nvPr>
            <p:ph type="title"/>
          </p:nvPr>
        </p:nvSpPr>
        <p:spPr/>
        <p:txBody>
          <a:bodyPr/>
          <a:lstStyle/>
          <a:p>
            <a:r>
              <a:rPr lang="en-US" dirty="0"/>
              <a:t>RESEARCH METHODOLOGY</a:t>
            </a:r>
            <a:endParaRPr lang="en-ZM" dirty="0"/>
          </a:p>
        </p:txBody>
      </p:sp>
      <p:sp>
        <p:nvSpPr>
          <p:cNvPr id="3" name="Content Placeholder 2">
            <a:extLst>
              <a:ext uri="{FF2B5EF4-FFF2-40B4-BE49-F238E27FC236}">
                <a16:creationId xmlns:a16="http://schemas.microsoft.com/office/drawing/2014/main" id="{95EA95EF-FC11-2C5B-B39C-D14BAF4766F6}"/>
              </a:ext>
            </a:extLst>
          </p:cNvPr>
          <p:cNvSpPr>
            <a:spLocks noGrp="1"/>
          </p:cNvSpPr>
          <p:nvPr>
            <p:ph idx="1"/>
          </p:nvPr>
        </p:nvSpPr>
        <p:spPr/>
        <p:txBody>
          <a:bodyPr>
            <a:normAutofit/>
          </a:bodyPr>
          <a:lstStyle/>
          <a:p>
            <a:pPr>
              <a:buFont typeface="Arial" panose="020B0604020202020204" pitchFamily="34" charset="0"/>
              <a:buChar char="•"/>
            </a:pPr>
            <a:r>
              <a:rPr lang="en-US" sz="3000" dirty="0"/>
              <a:t>Software development tools </a:t>
            </a:r>
          </a:p>
          <a:p>
            <a:pPr lvl="1">
              <a:buFont typeface="Arial" panose="020B0604020202020204" pitchFamily="34" charset="0"/>
              <a:buChar char="•"/>
            </a:pPr>
            <a:r>
              <a:rPr lang="en-US" sz="2800" dirty="0">
                <a:effectLst/>
                <a:ea typeface="Calibri" panose="020F0502020204030204" pitchFamily="34" charset="0"/>
                <a:cs typeface="Times New Roman" panose="02020603050405020304" pitchFamily="18" charset="0"/>
              </a:rPr>
              <a:t>Html, CSS, Bootstrap, JavaScript for the frontend </a:t>
            </a:r>
          </a:p>
          <a:p>
            <a:pPr lvl="1">
              <a:buFont typeface="Arial" panose="020B0604020202020204" pitchFamily="34" charset="0"/>
              <a:buChar char="•"/>
            </a:pPr>
            <a:r>
              <a:rPr lang="en-US" sz="2800" dirty="0">
                <a:ea typeface="Calibri" panose="020F0502020204030204" pitchFamily="34" charset="0"/>
                <a:cs typeface="Times New Roman" panose="02020603050405020304" pitchFamily="18" charset="0"/>
              </a:rPr>
              <a:t>Node JS</a:t>
            </a:r>
            <a:r>
              <a:rPr lang="en-US" sz="2800" dirty="0">
                <a:effectLst/>
                <a:ea typeface="Calibri" panose="020F0502020204030204" pitchFamily="34" charset="0"/>
                <a:cs typeface="Times New Roman" panose="02020603050405020304" pitchFamily="18" charset="0"/>
              </a:rPr>
              <a:t> for the backend </a:t>
            </a:r>
          </a:p>
          <a:p>
            <a:pPr lvl="1">
              <a:buFont typeface="Arial" panose="020B0604020202020204" pitchFamily="34" charset="0"/>
              <a:buChar char="•"/>
            </a:pPr>
            <a:r>
              <a:rPr lang="en-US" sz="2800" dirty="0">
                <a:effectLst/>
                <a:ea typeface="Calibri" panose="020F0502020204030204" pitchFamily="34" charset="0"/>
                <a:cs typeface="Times New Roman" panose="02020603050405020304" pitchFamily="18" charset="0"/>
              </a:rPr>
              <a:t>M</a:t>
            </a:r>
            <a:r>
              <a:rPr lang="en-US" sz="2800" dirty="0">
                <a:ea typeface="Calibri" panose="020F0502020204030204" pitchFamily="34" charset="0"/>
                <a:cs typeface="Times New Roman" panose="02020603050405020304" pitchFamily="18" charset="0"/>
              </a:rPr>
              <a:t>y</a:t>
            </a:r>
            <a:r>
              <a:rPr lang="en-US" sz="2800" dirty="0">
                <a:effectLst/>
                <a:ea typeface="Calibri" panose="020F0502020204030204" pitchFamily="34" charset="0"/>
                <a:cs typeface="Times New Roman" panose="02020603050405020304" pitchFamily="18" charset="0"/>
              </a:rPr>
              <a:t>SQL database</a:t>
            </a:r>
          </a:p>
          <a:p>
            <a:pPr lvl="1">
              <a:buFont typeface="Arial" panose="020B0604020202020204" pitchFamily="34" charset="0"/>
              <a:buChar char="•"/>
            </a:pPr>
            <a:r>
              <a:rPr lang="en-US" sz="2800" dirty="0">
                <a:effectLst/>
                <a:ea typeface="Calibri" panose="020F0502020204030204" pitchFamily="34" charset="0"/>
                <a:cs typeface="Times New Roman" panose="02020603050405020304" pitchFamily="18" charset="0"/>
              </a:rPr>
              <a:t>Visual Studio code</a:t>
            </a:r>
            <a:endParaRPr lang="en-ZM" sz="2800" dirty="0">
              <a:effectLst/>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3762885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0C102-38C4-C09E-C78D-CB52720FD97D}"/>
              </a:ext>
            </a:extLst>
          </p:cNvPr>
          <p:cNvSpPr>
            <a:spLocks noGrp="1"/>
          </p:cNvSpPr>
          <p:nvPr>
            <p:ph type="title"/>
          </p:nvPr>
        </p:nvSpPr>
        <p:spPr>
          <a:xfrm>
            <a:off x="1166291" y="76098"/>
            <a:ext cx="10058400" cy="1450757"/>
          </a:xfrm>
        </p:spPr>
        <p:txBody>
          <a:bodyPr/>
          <a:lstStyle/>
          <a:p>
            <a:r>
              <a:rPr lang="en-US" dirty="0"/>
              <a:t>CONCEPTUAL FRAMEWORK</a:t>
            </a:r>
            <a:endParaRPr lang="en-ZM" dirty="0"/>
          </a:p>
        </p:txBody>
      </p:sp>
      <p:pic>
        <p:nvPicPr>
          <p:cNvPr id="7" name="Picture 6">
            <a:extLst>
              <a:ext uri="{FF2B5EF4-FFF2-40B4-BE49-F238E27FC236}">
                <a16:creationId xmlns:a16="http://schemas.microsoft.com/office/drawing/2014/main" id="{8D3A9D56-073A-2B3B-93C0-526BD30DC71D}"/>
              </a:ext>
            </a:extLst>
          </p:cNvPr>
          <p:cNvPicPr>
            <a:picLocks noChangeAspect="1"/>
          </p:cNvPicPr>
          <p:nvPr/>
        </p:nvPicPr>
        <p:blipFill>
          <a:blip r:embed="rId2"/>
          <a:stretch>
            <a:fillRect/>
          </a:stretch>
        </p:blipFill>
        <p:spPr>
          <a:xfrm>
            <a:off x="2997926" y="3218095"/>
            <a:ext cx="529044" cy="529044"/>
          </a:xfrm>
          <a:prstGeom prst="rect">
            <a:avLst/>
          </a:prstGeom>
        </p:spPr>
      </p:pic>
      <p:sp>
        <p:nvSpPr>
          <p:cNvPr id="9" name="TextBox 8">
            <a:extLst>
              <a:ext uri="{FF2B5EF4-FFF2-40B4-BE49-F238E27FC236}">
                <a16:creationId xmlns:a16="http://schemas.microsoft.com/office/drawing/2014/main" id="{558A197F-E110-A692-24BA-83D6463E0610}"/>
              </a:ext>
            </a:extLst>
          </p:cNvPr>
          <p:cNvSpPr txBox="1"/>
          <p:nvPr/>
        </p:nvSpPr>
        <p:spPr>
          <a:xfrm>
            <a:off x="3498664" y="3297951"/>
            <a:ext cx="984070" cy="461665"/>
          </a:xfrm>
          <a:prstGeom prst="rect">
            <a:avLst/>
          </a:prstGeom>
          <a:noFill/>
        </p:spPr>
        <p:txBody>
          <a:bodyPr wrap="square" rtlCol="0">
            <a:spAutoFit/>
          </a:bodyPr>
          <a:lstStyle/>
          <a:p>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Key Generation</a:t>
            </a:r>
            <a:endParaRPr lang="en-ZM"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7" name="Shape 6">
            <a:extLst>
              <a:ext uri="{FF2B5EF4-FFF2-40B4-BE49-F238E27FC236}">
                <a16:creationId xmlns:a16="http://schemas.microsoft.com/office/drawing/2014/main" id="{2C53F4AD-639A-3717-AF70-0CCD03BC8FCB}"/>
              </a:ext>
            </a:extLst>
          </p:cNvPr>
          <p:cNvSpPr/>
          <p:nvPr/>
        </p:nvSpPr>
        <p:spPr>
          <a:xfrm>
            <a:off x="854015" y="1604513"/>
            <a:ext cx="10370676" cy="4658527"/>
          </a:xfrm>
          <a:prstGeom prst="rect">
            <a:avLst/>
          </a:prstGeom>
          <a:solidFill>
            <a:srgbClr val="F8F8F8"/>
          </a:solidFill>
          <a:ln w="12700">
            <a:solidFill>
              <a:srgbClr val="CCCCCC"/>
            </a:solidFill>
            <a:prstDash val="solid"/>
          </a:ln>
        </p:spPr>
      </p:sp>
      <p:sp>
        <p:nvSpPr>
          <p:cNvPr id="18" name="Shape 7">
            <a:extLst>
              <a:ext uri="{FF2B5EF4-FFF2-40B4-BE49-F238E27FC236}">
                <a16:creationId xmlns:a16="http://schemas.microsoft.com/office/drawing/2014/main" id="{3921B0FA-BF9F-7872-177B-E6E878708056}"/>
              </a:ext>
            </a:extLst>
          </p:cNvPr>
          <p:cNvSpPr/>
          <p:nvPr/>
        </p:nvSpPr>
        <p:spPr>
          <a:xfrm>
            <a:off x="2742239" y="1714812"/>
            <a:ext cx="219456" cy="219456"/>
          </a:xfrm>
          <a:prstGeom prst="ellipse">
            <a:avLst/>
          </a:prstGeom>
          <a:solidFill>
            <a:srgbClr val="FFFFFF"/>
          </a:solidFill>
          <a:ln w="25400">
            <a:solidFill>
              <a:srgbClr val="232323"/>
            </a:solidFill>
            <a:prstDash val="solid"/>
          </a:ln>
        </p:spPr>
      </p:sp>
      <p:sp>
        <p:nvSpPr>
          <p:cNvPr id="19" name="Shape 8">
            <a:extLst>
              <a:ext uri="{FF2B5EF4-FFF2-40B4-BE49-F238E27FC236}">
                <a16:creationId xmlns:a16="http://schemas.microsoft.com/office/drawing/2014/main" id="{6F674ED7-198E-3A88-07B6-BE987B954B89}"/>
              </a:ext>
            </a:extLst>
          </p:cNvPr>
          <p:cNvSpPr/>
          <p:nvPr/>
        </p:nvSpPr>
        <p:spPr>
          <a:xfrm>
            <a:off x="2850242" y="1934268"/>
            <a:ext cx="0" cy="320040"/>
          </a:xfrm>
          <a:prstGeom prst="line">
            <a:avLst/>
          </a:prstGeom>
          <a:noFill/>
          <a:ln w="25400">
            <a:solidFill>
              <a:srgbClr val="232323"/>
            </a:solidFill>
            <a:prstDash val="solid"/>
          </a:ln>
        </p:spPr>
      </p:sp>
      <p:sp>
        <p:nvSpPr>
          <p:cNvPr id="20" name="Shape 9">
            <a:extLst>
              <a:ext uri="{FF2B5EF4-FFF2-40B4-BE49-F238E27FC236}">
                <a16:creationId xmlns:a16="http://schemas.microsoft.com/office/drawing/2014/main" id="{3CF11D1A-A5D8-6221-DFA7-0FAF5EED75C5}"/>
              </a:ext>
            </a:extLst>
          </p:cNvPr>
          <p:cNvSpPr/>
          <p:nvPr/>
        </p:nvSpPr>
        <p:spPr>
          <a:xfrm>
            <a:off x="2697480" y="2046842"/>
            <a:ext cx="365760" cy="0"/>
          </a:xfrm>
          <a:prstGeom prst="line">
            <a:avLst/>
          </a:prstGeom>
          <a:noFill/>
          <a:ln w="25400">
            <a:solidFill>
              <a:srgbClr val="232323"/>
            </a:solidFill>
            <a:prstDash val="solid"/>
          </a:ln>
        </p:spPr>
      </p:sp>
      <p:sp>
        <p:nvSpPr>
          <p:cNvPr id="21" name="Shape 10">
            <a:extLst>
              <a:ext uri="{FF2B5EF4-FFF2-40B4-BE49-F238E27FC236}">
                <a16:creationId xmlns:a16="http://schemas.microsoft.com/office/drawing/2014/main" id="{35B9DA3B-CE64-1BAD-1F60-B3B2A59C75B9}"/>
              </a:ext>
            </a:extLst>
          </p:cNvPr>
          <p:cNvSpPr/>
          <p:nvPr/>
        </p:nvSpPr>
        <p:spPr>
          <a:xfrm flipH="1">
            <a:off x="2697480" y="2264875"/>
            <a:ext cx="141473" cy="256031"/>
          </a:xfrm>
          <a:prstGeom prst="line">
            <a:avLst/>
          </a:prstGeom>
          <a:noFill/>
          <a:ln w="25400">
            <a:solidFill>
              <a:srgbClr val="232323"/>
            </a:solidFill>
            <a:prstDash val="solid"/>
          </a:ln>
        </p:spPr>
      </p:sp>
      <p:sp>
        <p:nvSpPr>
          <p:cNvPr id="22" name="Shape 11">
            <a:extLst>
              <a:ext uri="{FF2B5EF4-FFF2-40B4-BE49-F238E27FC236}">
                <a16:creationId xmlns:a16="http://schemas.microsoft.com/office/drawing/2014/main" id="{E6BA2522-1B53-11FE-D4CC-10146031257E}"/>
              </a:ext>
            </a:extLst>
          </p:cNvPr>
          <p:cNvSpPr/>
          <p:nvPr/>
        </p:nvSpPr>
        <p:spPr>
          <a:xfrm>
            <a:off x="2849305" y="2264875"/>
            <a:ext cx="182880" cy="256032"/>
          </a:xfrm>
          <a:prstGeom prst="line">
            <a:avLst/>
          </a:prstGeom>
          <a:noFill/>
          <a:ln w="25400">
            <a:solidFill>
              <a:srgbClr val="232323"/>
            </a:solidFill>
            <a:prstDash val="solid"/>
          </a:ln>
        </p:spPr>
      </p:sp>
      <p:sp>
        <p:nvSpPr>
          <p:cNvPr id="23" name="Text 12">
            <a:extLst>
              <a:ext uri="{FF2B5EF4-FFF2-40B4-BE49-F238E27FC236}">
                <a16:creationId xmlns:a16="http://schemas.microsoft.com/office/drawing/2014/main" id="{1FAA4336-7DFA-7993-7F8F-46DF344FBB44}"/>
              </a:ext>
            </a:extLst>
          </p:cNvPr>
          <p:cNvSpPr/>
          <p:nvPr/>
        </p:nvSpPr>
        <p:spPr>
          <a:xfrm>
            <a:off x="2057400" y="2495512"/>
            <a:ext cx="640080" cy="256032"/>
          </a:xfrm>
          <a:prstGeom prst="rect">
            <a:avLst/>
          </a:prstGeom>
          <a:noFill/>
          <a:ln/>
        </p:spPr>
        <p:txBody>
          <a:bodyPr wrap="square" lIns="0" tIns="0" rIns="0" bIns="0" rtlCol="0" anchor="ctr"/>
          <a:lstStyle/>
          <a:p>
            <a:pPr marL="0" indent="0" algn="ctr">
              <a:buNone/>
            </a:pPr>
            <a:r>
              <a:rPr lang="en-US" sz="1100" dirty="0">
                <a:solidFill>
                  <a:srgbClr val="232323"/>
                </a:solidFill>
                <a:latin typeface="Calibri" pitchFamily="34" charset="0"/>
                <a:ea typeface="Calibri" pitchFamily="34" charset="-122"/>
                <a:cs typeface="Calibri" pitchFamily="34" charset="-120"/>
              </a:rPr>
              <a:t>Shopper /</a:t>
            </a:r>
            <a:endParaRPr lang="en-US" sz="1100" dirty="0"/>
          </a:p>
          <a:p>
            <a:pPr marL="0" indent="0" algn="ctr">
              <a:buNone/>
            </a:pPr>
            <a:r>
              <a:rPr lang="en-US" sz="1100" dirty="0">
                <a:solidFill>
                  <a:srgbClr val="232323"/>
                </a:solidFill>
                <a:latin typeface="Calibri" pitchFamily="34" charset="0"/>
                <a:ea typeface="Calibri" pitchFamily="34" charset="-122"/>
                <a:cs typeface="Calibri" pitchFamily="34" charset="-120"/>
              </a:rPr>
              <a:t>Admin</a:t>
            </a:r>
            <a:endParaRPr lang="en-US" sz="1100" dirty="0"/>
          </a:p>
        </p:txBody>
      </p:sp>
      <p:sp>
        <p:nvSpPr>
          <p:cNvPr id="24" name="Shape 13">
            <a:extLst>
              <a:ext uri="{FF2B5EF4-FFF2-40B4-BE49-F238E27FC236}">
                <a16:creationId xmlns:a16="http://schemas.microsoft.com/office/drawing/2014/main" id="{0D37D964-A22A-7234-ADF0-099B6A3998E0}"/>
              </a:ext>
            </a:extLst>
          </p:cNvPr>
          <p:cNvSpPr/>
          <p:nvPr/>
        </p:nvSpPr>
        <p:spPr>
          <a:xfrm>
            <a:off x="2971800" y="2769218"/>
            <a:ext cx="0" cy="18288"/>
          </a:xfrm>
          <a:prstGeom prst="line">
            <a:avLst/>
          </a:prstGeom>
          <a:noFill/>
          <a:ln w="25400">
            <a:solidFill>
              <a:srgbClr val="232323"/>
            </a:solidFill>
            <a:prstDash val="solid"/>
          </a:ln>
        </p:spPr>
      </p:sp>
      <p:sp>
        <p:nvSpPr>
          <p:cNvPr id="25" name="Text 14">
            <a:extLst>
              <a:ext uri="{FF2B5EF4-FFF2-40B4-BE49-F238E27FC236}">
                <a16:creationId xmlns:a16="http://schemas.microsoft.com/office/drawing/2014/main" id="{D07692B0-CC2E-D16E-C656-30AEF3EE8D21}"/>
              </a:ext>
            </a:extLst>
          </p:cNvPr>
          <p:cNvSpPr/>
          <p:nvPr/>
        </p:nvSpPr>
        <p:spPr>
          <a:xfrm>
            <a:off x="2880360" y="2750930"/>
            <a:ext cx="182880" cy="182880"/>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26" name="Text 15">
            <a:extLst>
              <a:ext uri="{FF2B5EF4-FFF2-40B4-BE49-F238E27FC236}">
                <a16:creationId xmlns:a16="http://schemas.microsoft.com/office/drawing/2014/main" id="{78AA8FE1-2423-C2DF-F14B-A9BFC173B3EB}"/>
              </a:ext>
            </a:extLst>
          </p:cNvPr>
          <p:cNvSpPr/>
          <p:nvPr/>
        </p:nvSpPr>
        <p:spPr>
          <a:xfrm>
            <a:off x="2880360" y="2622914"/>
            <a:ext cx="182880" cy="182880"/>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27" name="Shape 16">
            <a:extLst>
              <a:ext uri="{FF2B5EF4-FFF2-40B4-BE49-F238E27FC236}">
                <a16:creationId xmlns:a16="http://schemas.microsoft.com/office/drawing/2014/main" id="{29B8BB1C-3305-F7D8-E06C-AF937A8C0294}"/>
              </a:ext>
            </a:extLst>
          </p:cNvPr>
          <p:cNvSpPr/>
          <p:nvPr/>
        </p:nvSpPr>
        <p:spPr>
          <a:xfrm>
            <a:off x="2194560" y="2787506"/>
            <a:ext cx="1554480" cy="640080"/>
          </a:xfrm>
          <a:prstGeom prst="roundRect">
            <a:avLst>
              <a:gd name="adj" fmla="val 17143"/>
            </a:avLst>
          </a:prstGeom>
          <a:solidFill>
            <a:srgbClr val="FFFFFF"/>
          </a:solidFill>
          <a:ln w="25400">
            <a:solidFill>
              <a:srgbClr val="232323"/>
            </a:solidFill>
            <a:prstDash val="solid"/>
          </a:ln>
        </p:spPr>
      </p:sp>
      <p:sp>
        <p:nvSpPr>
          <p:cNvPr id="28" name="Text 17">
            <a:extLst>
              <a:ext uri="{FF2B5EF4-FFF2-40B4-BE49-F238E27FC236}">
                <a16:creationId xmlns:a16="http://schemas.microsoft.com/office/drawing/2014/main" id="{88002ED2-45F2-06F7-D9CC-513CB108C13D}"/>
              </a:ext>
            </a:extLst>
          </p:cNvPr>
          <p:cNvSpPr/>
          <p:nvPr/>
        </p:nvSpPr>
        <p:spPr>
          <a:xfrm>
            <a:off x="2194560" y="2787506"/>
            <a:ext cx="1554480" cy="640080"/>
          </a:xfrm>
          <a:prstGeom prst="rect">
            <a:avLst/>
          </a:prstGeom>
          <a:noFill/>
          <a:ln/>
        </p:spPr>
        <p:txBody>
          <a:bodyPr wrap="square" lIns="50800" tIns="50800" rIns="50800" bIns="50800" rtlCol="0" anchor="ctr"/>
          <a:lstStyle/>
          <a:p>
            <a:pPr marL="0" indent="0" algn="ctr">
              <a:buNone/>
            </a:pPr>
            <a:r>
              <a:rPr lang="en-US" sz="1300" dirty="0">
                <a:solidFill>
                  <a:srgbClr val="232323"/>
                </a:solidFill>
                <a:latin typeface="Calibri" pitchFamily="34" charset="0"/>
                <a:ea typeface="Calibri" pitchFamily="34" charset="-122"/>
                <a:cs typeface="Calibri" pitchFamily="34" charset="-120"/>
              </a:rPr>
              <a:t>React</a:t>
            </a:r>
            <a:endParaRPr lang="en-US" sz="1300" dirty="0"/>
          </a:p>
          <a:p>
            <a:pPr marL="0" indent="0" algn="ctr">
              <a:buNone/>
            </a:pPr>
            <a:r>
              <a:rPr lang="en-US" sz="1300" dirty="0">
                <a:solidFill>
                  <a:srgbClr val="232323"/>
                </a:solidFill>
                <a:latin typeface="Calibri" pitchFamily="34" charset="0"/>
                <a:ea typeface="Calibri" pitchFamily="34" charset="-122"/>
                <a:cs typeface="Calibri" pitchFamily="34" charset="-120"/>
              </a:rPr>
              <a:t>Storefront</a:t>
            </a:r>
            <a:endParaRPr lang="en-US" sz="1300" dirty="0"/>
          </a:p>
        </p:txBody>
      </p:sp>
      <p:sp>
        <p:nvSpPr>
          <p:cNvPr id="29" name="Shape 18">
            <a:extLst>
              <a:ext uri="{FF2B5EF4-FFF2-40B4-BE49-F238E27FC236}">
                <a16:creationId xmlns:a16="http://schemas.microsoft.com/office/drawing/2014/main" id="{437A9C06-C4CC-234B-C1CF-EB2C829EE98B}"/>
              </a:ext>
            </a:extLst>
          </p:cNvPr>
          <p:cNvSpPr/>
          <p:nvPr/>
        </p:nvSpPr>
        <p:spPr>
          <a:xfrm>
            <a:off x="3785616" y="3107546"/>
            <a:ext cx="932688" cy="0"/>
          </a:xfrm>
          <a:prstGeom prst="line">
            <a:avLst/>
          </a:prstGeom>
          <a:noFill/>
          <a:ln w="25400">
            <a:solidFill>
              <a:srgbClr val="232323"/>
            </a:solidFill>
            <a:prstDash val="solid"/>
          </a:ln>
        </p:spPr>
      </p:sp>
      <p:sp>
        <p:nvSpPr>
          <p:cNvPr id="30" name="Text 19">
            <a:extLst>
              <a:ext uri="{FF2B5EF4-FFF2-40B4-BE49-F238E27FC236}">
                <a16:creationId xmlns:a16="http://schemas.microsoft.com/office/drawing/2014/main" id="{A85A6F26-6F05-B724-76E3-AEABA3E93DF2}"/>
              </a:ext>
            </a:extLst>
          </p:cNvPr>
          <p:cNvSpPr/>
          <p:nvPr/>
        </p:nvSpPr>
        <p:spPr>
          <a:xfrm>
            <a:off x="3776472" y="2997818"/>
            <a:ext cx="182880" cy="219456"/>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31" name="Text 20">
            <a:extLst>
              <a:ext uri="{FF2B5EF4-FFF2-40B4-BE49-F238E27FC236}">
                <a16:creationId xmlns:a16="http://schemas.microsoft.com/office/drawing/2014/main" id="{0B6DC89F-1D5F-0D3F-F2D0-99A639FF20D3}"/>
              </a:ext>
            </a:extLst>
          </p:cNvPr>
          <p:cNvSpPr/>
          <p:nvPr/>
        </p:nvSpPr>
        <p:spPr>
          <a:xfrm>
            <a:off x="4544568" y="2997818"/>
            <a:ext cx="182880" cy="219456"/>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32" name="Shape 21">
            <a:extLst>
              <a:ext uri="{FF2B5EF4-FFF2-40B4-BE49-F238E27FC236}">
                <a16:creationId xmlns:a16="http://schemas.microsoft.com/office/drawing/2014/main" id="{C1C93303-B715-9F11-E1A2-3EFCE8F93EC6}"/>
              </a:ext>
            </a:extLst>
          </p:cNvPr>
          <p:cNvSpPr/>
          <p:nvPr/>
        </p:nvSpPr>
        <p:spPr>
          <a:xfrm>
            <a:off x="4754880" y="2787506"/>
            <a:ext cx="1828800" cy="640080"/>
          </a:xfrm>
          <a:prstGeom prst="roundRect">
            <a:avLst>
              <a:gd name="adj" fmla="val 17143"/>
            </a:avLst>
          </a:prstGeom>
          <a:solidFill>
            <a:srgbClr val="FFFFFF"/>
          </a:solidFill>
          <a:ln w="31750">
            <a:solidFill>
              <a:srgbClr val="232323"/>
            </a:solidFill>
            <a:prstDash val="solid"/>
          </a:ln>
        </p:spPr>
      </p:sp>
      <p:sp>
        <p:nvSpPr>
          <p:cNvPr id="33" name="Text 22">
            <a:extLst>
              <a:ext uri="{FF2B5EF4-FFF2-40B4-BE49-F238E27FC236}">
                <a16:creationId xmlns:a16="http://schemas.microsoft.com/office/drawing/2014/main" id="{A33E2D14-DE18-1290-DC07-2E326CDEA48C}"/>
              </a:ext>
            </a:extLst>
          </p:cNvPr>
          <p:cNvSpPr/>
          <p:nvPr/>
        </p:nvSpPr>
        <p:spPr>
          <a:xfrm>
            <a:off x="4754880" y="2787506"/>
            <a:ext cx="1828800" cy="640080"/>
          </a:xfrm>
          <a:prstGeom prst="rect">
            <a:avLst/>
          </a:prstGeom>
          <a:noFill/>
          <a:ln/>
        </p:spPr>
        <p:txBody>
          <a:bodyPr wrap="square" lIns="50800" tIns="50800" rIns="50800" bIns="50800" rtlCol="0" anchor="ctr"/>
          <a:lstStyle/>
          <a:p>
            <a:pPr marL="0" indent="0" algn="ctr">
              <a:buNone/>
            </a:pPr>
            <a:r>
              <a:rPr lang="en-US" sz="1300" b="1" dirty="0">
                <a:solidFill>
                  <a:srgbClr val="232323"/>
                </a:solidFill>
                <a:latin typeface="Calibri" pitchFamily="34" charset="0"/>
                <a:ea typeface="Calibri" pitchFamily="34" charset="-122"/>
                <a:cs typeface="Calibri" pitchFamily="34" charset="-120"/>
              </a:rPr>
              <a:t>Node.js</a:t>
            </a:r>
            <a:endParaRPr lang="en-US" sz="1300" dirty="0"/>
          </a:p>
          <a:p>
            <a:pPr marL="0" indent="0" algn="ctr">
              <a:buNone/>
            </a:pPr>
            <a:r>
              <a:rPr lang="en-US" sz="1300" b="1" dirty="0">
                <a:solidFill>
                  <a:srgbClr val="232323"/>
                </a:solidFill>
                <a:latin typeface="Calibri" pitchFamily="34" charset="0"/>
                <a:ea typeface="Calibri" pitchFamily="34" charset="-122"/>
                <a:cs typeface="Calibri" pitchFamily="34" charset="-120"/>
              </a:rPr>
              <a:t>API Layer</a:t>
            </a:r>
            <a:endParaRPr lang="en-US" sz="1300" dirty="0"/>
          </a:p>
        </p:txBody>
      </p:sp>
      <p:sp>
        <p:nvSpPr>
          <p:cNvPr id="34" name="Shape 23">
            <a:extLst>
              <a:ext uri="{FF2B5EF4-FFF2-40B4-BE49-F238E27FC236}">
                <a16:creationId xmlns:a16="http://schemas.microsoft.com/office/drawing/2014/main" id="{D0C65CAC-2CF1-D3F4-9AD6-DC03EE469482}"/>
              </a:ext>
            </a:extLst>
          </p:cNvPr>
          <p:cNvSpPr/>
          <p:nvPr/>
        </p:nvSpPr>
        <p:spPr>
          <a:xfrm>
            <a:off x="6620256" y="3107546"/>
            <a:ext cx="841248" cy="0"/>
          </a:xfrm>
          <a:prstGeom prst="line">
            <a:avLst/>
          </a:prstGeom>
          <a:noFill/>
          <a:ln w="25400">
            <a:solidFill>
              <a:srgbClr val="232323"/>
            </a:solidFill>
            <a:prstDash val="solid"/>
          </a:ln>
        </p:spPr>
      </p:sp>
      <p:sp>
        <p:nvSpPr>
          <p:cNvPr id="35" name="Text 24">
            <a:extLst>
              <a:ext uri="{FF2B5EF4-FFF2-40B4-BE49-F238E27FC236}">
                <a16:creationId xmlns:a16="http://schemas.microsoft.com/office/drawing/2014/main" id="{72DE1144-663A-B164-8065-7CED7958B614}"/>
              </a:ext>
            </a:extLst>
          </p:cNvPr>
          <p:cNvSpPr/>
          <p:nvPr/>
        </p:nvSpPr>
        <p:spPr>
          <a:xfrm>
            <a:off x="6611112" y="2997818"/>
            <a:ext cx="182880" cy="219456"/>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36" name="Text 25">
            <a:extLst>
              <a:ext uri="{FF2B5EF4-FFF2-40B4-BE49-F238E27FC236}">
                <a16:creationId xmlns:a16="http://schemas.microsoft.com/office/drawing/2014/main" id="{F20E8683-2CF5-8F27-5D30-10063E521826}"/>
              </a:ext>
            </a:extLst>
          </p:cNvPr>
          <p:cNvSpPr/>
          <p:nvPr/>
        </p:nvSpPr>
        <p:spPr>
          <a:xfrm>
            <a:off x="7287768" y="2997818"/>
            <a:ext cx="182880" cy="219456"/>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37" name="Shape 26">
            <a:extLst>
              <a:ext uri="{FF2B5EF4-FFF2-40B4-BE49-F238E27FC236}">
                <a16:creationId xmlns:a16="http://schemas.microsoft.com/office/drawing/2014/main" id="{BD3C64B3-4FCC-1AA9-FBCC-E9628646B3C1}"/>
              </a:ext>
            </a:extLst>
          </p:cNvPr>
          <p:cNvSpPr/>
          <p:nvPr/>
        </p:nvSpPr>
        <p:spPr>
          <a:xfrm>
            <a:off x="7498080" y="2787506"/>
            <a:ext cx="1645920" cy="640080"/>
          </a:xfrm>
          <a:prstGeom prst="roundRect">
            <a:avLst>
              <a:gd name="adj" fmla="val 17143"/>
            </a:avLst>
          </a:prstGeom>
          <a:solidFill>
            <a:srgbClr val="FFFFFF"/>
          </a:solidFill>
          <a:ln w="25400">
            <a:solidFill>
              <a:srgbClr val="232323"/>
            </a:solidFill>
            <a:prstDash val="solid"/>
          </a:ln>
        </p:spPr>
      </p:sp>
      <p:sp>
        <p:nvSpPr>
          <p:cNvPr id="38" name="Text 27">
            <a:extLst>
              <a:ext uri="{FF2B5EF4-FFF2-40B4-BE49-F238E27FC236}">
                <a16:creationId xmlns:a16="http://schemas.microsoft.com/office/drawing/2014/main" id="{493507EE-4C3C-33FB-CC7C-A361752D924D}"/>
              </a:ext>
            </a:extLst>
          </p:cNvPr>
          <p:cNvSpPr/>
          <p:nvPr/>
        </p:nvSpPr>
        <p:spPr>
          <a:xfrm>
            <a:off x="7498080" y="2787506"/>
            <a:ext cx="1645920" cy="640080"/>
          </a:xfrm>
          <a:prstGeom prst="rect">
            <a:avLst/>
          </a:prstGeom>
          <a:noFill/>
          <a:ln/>
        </p:spPr>
        <p:txBody>
          <a:bodyPr wrap="square" lIns="50800" tIns="50800" rIns="50800" bIns="50800" rtlCol="0" anchor="ctr"/>
          <a:lstStyle/>
          <a:p>
            <a:pPr marL="0" indent="0" algn="ctr">
              <a:buNone/>
            </a:pPr>
            <a:r>
              <a:rPr lang="en-US" sz="1300" dirty="0">
                <a:solidFill>
                  <a:srgbClr val="232323"/>
                </a:solidFill>
                <a:latin typeface="Calibri" pitchFamily="34" charset="0"/>
                <a:ea typeface="Calibri" pitchFamily="34" charset="-122"/>
                <a:cs typeface="Calibri" pitchFamily="34" charset="-120"/>
              </a:rPr>
              <a:t>MongoDB</a:t>
            </a:r>
            <a:endParaRPr lang="en-US" sz="1300" dirty="0"/>
          </a:p>
          <a:p>
            <a:pPr marL="0" indent="0" algn="ctr">
              <a:buNone/>
            </a:pPr>
            <a:r>
              <a:rPr lang="en-US" sz="1300" dirty="0">
                <a:solidFill>
                  <a:srgbClr val="232323"/>
                </a:solidFill>
                <a:latin typeface="Calibri" pitchFamily="34" charset="0"/>
                <a:ea typeface="Calibri" pitchFamily="34" charset="-122"/>
                <a:cs typeface="Calibri" pitchFamily="34" charset="-120"/>
              </a:rPr>
              <a:t>Database</a:t>
            </a:r>
            <a:endParaRPr lang="en-US" sz="1300" dirty="0"/>
          </a:p>
        </p:txBody>
      </p:sp>
      <p:sp>
        <p:nvSpPr>
          <p:cNvPr id="39" name="Shape 28">
            <a:extLst>
              <a:ext uri="{FF2B5EF4-FFF2-40B4-BE49-F238E27FC236}">
                <a16:creationId xmlns:a16="http://schemas.microsoft.com/office/drawing/2014/main" id="{37DD2053-0975-BFCC-1D75-C4CA3937ECB0}"/>
              </a:ext>
            </a:extLst>
          </p:cNvPr>
          <p:cNvSpPr/>
          <p:nvPr/>
        </p:nvSpPr>
        <p:spPr>
          <a:xfrm>
            <a:off x="5669280" y="3464162"/>
            <a:ext cx="0" cy="429768"/>
          </a:xfrm>
          <a:prstGeom prst="line">
            <a:avLst/>
          </a:prstGeom>
          <a:noFill/>
          <a:ln w="25400">
            <a:solidFill>
              <a:srgbClr val="232323"/>
            </a:solidFill>
            <a:prstDash val="solid"/>
          </a:ln>
        </p:spPr>
      </p:sp>
      <p:sp>
        <p:nvSpPr>
          <p:cNvPr id="40" name="Text 29">
            <a:extLst>
              <a:ext uri="{FF2B5EF4-FFF2-40B4-BE49-F238E27FC236}">
                <a16:creationId xmlns:a16="http://schemas.microsoft.com/office/drawing/2014/main" id="{734B2D4E-C498-96F7-1BBF-35713AB62998}"/>
              </a:ext>
            </a:extLst>
          </p:cNvPr>
          <p:cNvSpPr/>
          <p:nvPr/>
        </p:nvSpPr>
        <p:spPr>
          <a:xfrm>
            <a:off x="5577840" y="3445874"/>
            <a:ext cx="182880" cy="182880"/>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41" name="Text 30">
            <a:extLst>
              <a:ext uri="{FF2B5EF4-FFF2-40B4-BE49-F238E27FC236}">
                <a16:creationId xmlns:a16="http://schemas.microsoft.com/office/drawing/2014/main" id="{7E95727A-90AA-74CB-83A7-C9EE1E663BFC}"/>
              </a:ext>
            </a:extLst>
          </p:cNvPr>
          <p:cNvSpPr/>
          <p:nvPr/>
        </p:nvSpPr>
        <p:spPr>
          <a:xfrm>
            <a:off x="5577840" y="3729338"/>
            <a:ext cx="182880" cy="182880"/>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42" name="Shape 31">
            <a:extLst>
              <a:ext uri="{FF2B5EF4-FFF2-40B4-BE49-F238E27FC236}">
                <a16:creationId xmlns:a16="http://schemas.microsoft.com/office/drawing/2014/main" id="{004CC8F7-1F6C-609E-1837-E29F392234C3}"/>
              </a:ext>
            </a:extLst>
          </p:cNvPr>
          <p:cNvSpPr/>
          <p:nvPr/>
        </p:nvSpPr>
        <p:spPr>
          <a:xfrm>
            <a:off x="4960620" y="3930506"/>
            <a:ext cx="1417320" cy="640080"/>
          </a:xfrm>
          <a:prstGeom prst="roundRect">
            <a:avLst>
              <a:gd name="adj" fmla="val 17143"/>
            </a:avLst>
          </a:prstGeom>
          <a:solidFill>
            <a:srgbClr val="FFFFFF"/>
          </a:solidFill>
          <a:ln w="25400">
            <a:solidFill>
              <a:srgbClr val="232323"/>
            </a:solidFill>
            <a:prstDash val="solid"/>
          </a:ln>
        </p:spPr>
      </p:sp>
      <p:sp>
        <p:nvSpPr>
          <p:cNvPr id="43" name="Text 32">
            <a:extLst>
              <a:ext uri="{FF2B5EF4-FFF2-40B4-BE49-F238E27FC236}">
                <a16:creationId xmlns:a16="http://schemas.microsoft.com/office/drawing/2014/main" id="{250E3A5C-BBF3-4B43-2B02-57F394328FBD}"/>
              </a:ext>
            </a:extLst>
          </p:cNvPr>
          <p:cNvSpPr/>
          <p:nvPr/>
        </p:nvSpPr>
        <p:spPr>
          <a:xfrm>
            <a:off x="4960620" y="3930506"/>
            <a:ext cx="1417320" cy="640080"/>
          </a:xfrm>
          <a:prstGeom prst="rect">
            <a:avLst/>
          </a:prstGeom>
          <a:noFill/>
          <a:ln/>
        </p:spPr>
        <p:txBody>
          <a:bodyPr wrap="square" lIns="50800" tIns="50800" rIns="50800" bIns="50800" rtlCol="0" anchor="ctr"/>
          <a:lstStyle/>
          <a:p>
            <a:pPr marL="0" indent="0" algn="ctr">
              <a:buNone/>
            </a:pPr>
            <a:r>
              <a:rPr lang="en-US" sz="1300" dirty="0">
                <a:solidFill>
                  <a:srgbClr val="232323"/>
                </a:solidFill>
                <a:latin typeface="Calibri" pitchFamily="34" charset="0"/>
                <a:ea typeface="Calibri" pitchFamily="34" charset="-122"/>
                <a:cs typeface="Calibri" pitchFamily="34" charset="-120"/>
              </a:rPr>
              <a:t>Collaborative</a:t>
            </a:r>
            <a:endParaRPr lang="en-US" sz="1300" dirty="0"/>
          </a:p>
          <a:p>
            <a:pPr marL="0" indent="0" algn="ctr">
              <a:buNone/>
            </a:pPr>
            <a:r>
              <a:rPr lang="en-US" sz="1300" dirty="0">
                <a:solidFill>
                  <a:srgbClr val="232323"/>
                </a:solidFill>
                <a:latin typeface="Calibri" pitchFamily="34" charset="0"/>
                <a:ea typeface="Calibri" pitchFamily="34" charset="-122"/>
                <a:cs typeface="Calibri" pitchFamily="34" charset="-120"/>
              </a:rPr>
              <a:t>Filter Engine</a:t>
            </a:r>
            <a:endParaRPr lang="en-US" sz="1300" dirty="0"/>
          </a:p>
        </p:txBody>
      </p:sp>
      <p:sp>
        <p:nvSpPr>
          <p:cNvPr id="44" name="Shape 33">
            <a:extLst>
              <a:ext uri="{FF2B5EF4-FFF2-40B4-BE49-F238E27FC236}">
                <a16:creationId xmlns:a16="http://schemas.microsoft.com/office/drawing/2014/main" id="{C20FD13B-5852-0E1D-678D-D7460D954632}"/>
              </a:ext>
            </a:extLst>
          </p:cNvPr>
          <p:cNvSpPr/>
          <p:nvPr/>
        </p:nvSpPr>
        <p:spPr>
          <a:xfrm>
            <a:off x="5669280" y="4607162"/>
            <a:ext cx="0" cy="338328"/>
          </a:xfrm>
          <a:prstGeom prst="line">
            <a:avLst/>
          </a:prstGeom>
          <a:noFill/>
          <a:ln w="25400">
            <a:solidFill>
              <a:srgbClr val="232323"/>
            </a:solidFill>
            <a:prstDash val="solid"/>
          </a:ln>
        </p:spPr>
      </p:sp>
      <p:sp>
        <p:nvSpPr>
          <p:cNvPr id="45" name="Text 34">
            <a:extLst>
              <a:ext uri="{FF2B5EF4-FFF2-40B4-BE49-F238E27FC236}">
                <a16:creationId xmlns:a16="http://schemas.microsoft.com/office/drawing/2014/main" id="{2690948B-EAF4-1683-3E7F-C9856F932C48}"/>
              </a:ext>
            </a:extLst>
          </p:cNvPr>
          <p:cNvSpPr/>
          <p:nvPr/>
        </p:nvSpPr>
        <p:spPr>
          <a:xfrm>
            <a:off x="5577840" y="4588874"/>
            <a:ext cx="182880" cy="182880"/>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46" name="Text 35">
            <a:extLst>
              <a:ext uri="{FF2B5EF4-FFF2-40B4-BE49-F238E27FC236}">
                <a16:creationId xmlns:a16="http://schemas.microsoft.com/office/drawing/2014/main" id="{49E11D4A-8538-B31D-B3AD-9011C0F92457}"/>
              </a:ext>
            </a:extLst>
          </p:cNvPr>
          <p:cNvSpPr/>
          <p:nvPr/>
        </p:nvSpPr>
        <p:spPr>
          <a:xfrm>
            <a:off x="5577840" y="4780898"/>
            <a:ext cx="182880" cy="182880"/>
          </a:xfrm>
          <a:prstGeom prst="rect">
            <a:avLst/>
          </a:prstGeom>
          <a:noFill/>
          <a:ln/>
        </p:spPr>
        <p:txBody>
          <a:bodyPr wrap="square" lIns="0" tIns="0" rIns="0" bIns="0" rtlCol="0" anchor="ctr"/>
          <a:lstStyle/>
          <a:p>
            <a:pPr marL="0" indent="0" algn="ctr">
              <a:buNone/>
            </a:pPr>
            <a:r>
              <a:rPr lang="en-US" sz="1000" dirty="0">
                <a:solidFill>
                  <a:srgbClr val="232323"/>
                </a:solidFill>
              </a:rPr>
              <a:t>▼</a:t>
            </a:r>
            <a:endParaRPr lang="en-US" sz="1000" dirty="0"/>
          </a:p>
        </p:txBody>
      </p:sp>
      <p:sp>
        <p:nvSpPr>
          <p:cNvPr id="47" name="Shape 36">
            <a:extLst>
              <a:ext uri="{FF2B5EF4-FFF2-40B4-BE49-F238E27FC236}">
                <a16:creationId xmlns:a16="http://schemas.microsoft.com/office/drawing/2014/main" id="{7981CD80-F968-50DB-29E5-BF75DE765539}"/>
              </a:ext>
            </a:extLst>
          </p:cNvPr>
          <p:cNvSpPr/>
          <p:nvPr/>
        </p:nvSpPr>
        <p:spPr>
          <a:xfrm>
            <a:off x="4869180" y="4982066"/>
            <a:ext cx="1600200" cy="640080"/>
          </a:xfrm>
          <a:prstGeom prst="roundRect">
            <a:avLst>
              <a:gd name="adj" fmla="val 17143"/>
            </a:avLst>
          </a:prstGeom>
          <a:solidFill>
            <a:srgbClr val="FFFFFF"/>
          </a:solidFill>
          <a:ln w="25400">
            <a:solidFill>
              <a:srgbClr val="232323"/>
            </a:solidFill>
            <a:prstDash val="solid"/>
          </a:ln>
        </p:spPr>
      </p:sp>
      <p:sp>
        <p:nvSpPr>
          <p:cNvPr id="48" name="Text 37">
            <a:extLst>
              <a:ext uri="{FF2B5EF4-FFF2-40B4-BE49-F238E27FC236}">
                <a16:creationId xmlns:a16="http://schemas.microsoft.com/office/drawing/2014/main" id="{BFF53B25-3E6E-12A7-754D-3BE5CB38B40A}"/>
              </a:ext>
            </a:extLst>
          </p:cNvPr>
          <p:cNvSpPr/>
          <p:nvPr/>
        </p:nvSpPr>
        <p:spPr>
          <a:xfrm>
            <a:off x="4869180" y="4982066"/>
            <a:ext cx="1600200" cy="640080"/>
          </a:xfrm>
          <a:prstGeom prst="rect">
            <a:avLst/>
          </a:prstGeom>
          <a:noFill/>
          <a:ln/>
        </p:spPr>
        <p:txBody>
          <a:bodyPr wrap="square" lIns="50800" tIns="50800" rIns="50800" bIns="50800" rtlCol="0" anchor="ctr"/>
          <a:lstStyle/>
          <a:p>
            <a:pPr marL="0" indent="0" algn="ctr">
              <a:buNone/>
            </a:pPr>
            <a:r>
              <a:rPr lang="en-US" sz="1300" dirty="0">
                <a:solidFill>
                  <a:srgbClr val="232323"/>
                </a:solidFill>
                <a:latin typeface="Calibri" pitchFamily="34" charset="0"/>
                <a:ea typeface="Calibri" pitchFamily="34" charset="-122"/>
                <a:cs typeface="Calibri" pitchFamily="34" charset="-120"/>
              </a:rPr>
              <a:t>User-Item</a:t>
            </a:r>
            <a:endParaRPr lang="en-US" sz="1300" dirty="0"/>
          </a:p>
          <a:p>
            <a:pPr marL="0" indent="0" algn="ctr">
              <a:buNone/>
            </a:pPr>
            <a:r>
              <a:rPr lang="en-US" sz="1300" dirty="0">
                <a:solidFill>
                  <a:srgbClr val="232323"/>
                </a:solidFill>
                <a:latin typeface="Calibri" pitchFamily="34" charset="0"/>
                <a:ea typeface="Calibri" pitchFamily="34" charset="-122"/>
                <a:cs typeface="Calibri" pitchFamily="34" charset="-120"/>
              </a:rPr>
              <a:t>Matrix Store</a:t>
            </a:r>
            <a:endParaRPr lang="en-US" sz="1300" dirty="0"/>
          </a:p>
        </p:txBody>
      </p:sp>
    </p:spTree>
    <p:extLst>
      <p:ext uri="{BB962C8B-B14F-4D97-AF65-F5344CB8AC3E}">
        <p14:creationId xmlns:p14="http://schemas.microsoft.com/office/powerpoint/2010/main" val="3470253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A95EE-805C-12BE-688C-4C865CC0CE5F}"/>
              </a:ext>
            </a:extLst>
          </p:cNvPr>
          <p:cNvSpPr>
            <a:spLocks noGrp="1"/>
          </p:cNvSpPr>
          <p:nvPr>
            <p:ph type="title"/>
          </p:nvPr>
        </p:nvSpPr>
        <p:spPr/>
        <p:txBody>
          <a:bodyPr/>
          <a:lstStyle/>
          <a:p>
            <a:r>
              <a:rPr lang="en-US" dirty="0"/>
              <a:t>PROGRAM OF RESEARCH ACTIVITY (GANTT CHART)</a:t>
            </a:r>
            <a:endParaRPr lang="en-ZM" dirty="0"/>
          </a:p>
        </p:txBody>
      </p:sp>
      <p:graphicFrame>
        <p:nvGraphicFramePr>
          <p:cNvPr id="127" name="Content Placeholder 5">
            <a:extLst>
              <a:ext uri="{FF2B5EF4-FFF2-40B4-BE49-F238E27FC236}">
                <a16:creationId xmlns:a16="http://schemas.microsoft.com/office/drawing/2014/main" id="{AB680AD9-CC04-8E0F-B072-65AF90D6AB8E}"/>
              </a:ext>
            </a:extLst>
          </p:cNvPr>
          <p:cNvGraphicFramePr>
            <a:graphicFrameLocks/>
          </p:cNvGraphicFramePr>
          <p:nvPr>
            <p:extLst>
              <p:ext uri="{D42A27DB-BD31-4B8C-83A1-F6EECF244321}">
                <p14:modId xmlns:p14="http://schemas.microsoft.com/office/powerpoint/2010/main" val="1902398811"/>
              </p:ext>
            </p:extLst>
          </p:nvPr>
        </p:nvGraphicFramePr>
        <p:xfrm>
          <a:off x="1190435" y="2003745"/>
          <a:ext cx="9329264" cy="4198647"/>
        </p:xfrm>
        <a:graphic>
          <a:graphicData uri="http://schemas.openxmlformats.org/drawingml/2006/table">
            <a:tbl>
              <a:tblPr firstRow="1" bandRow="1"/>
              <a:tblGrid>
                <a:gridCol w="1611344">
                  <a:extLst>
                    <a:ext uri="{9D8B030D-6E8A-4147-A177-3AD203B41FA5}">
                      <a16:colId xmlns:a16="http://schemas.microsoft.com/office/drawing/2014/main" val="3940998315"/>
                    </a:ext>
                  </a:extLst>
                </a:gridCol>
                <a:gridCol w="241185">
                  <a:extLst>
                    <a:ext uri="{9D8B030D-6E8A-4147-A177-3AD203B41FA5}">
                      <a16:colId xmlns:a16="http://schemas.microsoft.com/office/drawing/2014/main" val="3462577345"/>
                    </a:ext>
                  </a:extLst>
                </a:gridCol>
                <a:gridCol w="241185">
                  <a:extLst>
                    <a:ext uri="{9D8B030D-6E8A-4147-A177-3AD203B41FA5}">
                      <a16:colId xmlns:a16="http://schemas.microsoft.com/office/drawing/2014/main" val="325598100"/>
                    </a:ext>
                  </a:extLst>
                </a:gridCol>
                <a:gridCol w="241185">
                  <a:extLst>
                    <a:ext uri="{9D8B030D-6E8A-4147-A177-3AD203B41FA5}">
                      <a16:colId xmlns:a16="http://schemas.microsoft.com/office/drawing/2014/main" val="3967897732"/>
                    </a:ext>
                  </a:extLst>
                </a:gridCol>
                <a:gridCol w="241185">
                  <a:extLst>
                    <a:ext uri="{9D8B030D-6E8A-4147-A177-3AD203B41FA5}">
                      <a16:colId xmlns:a16="http://schemas.microsoft.com/office/drawing/2014/main" val="1492757954"/>
                    </a:ext>
                  </a:extLst>
                </a:gridCol>
                <a:gridCol w="241185">
                  <a:extLst>
                    <a:ext uri="{9D8B030D-6E8A-4147-A177-3AD203B41FA5}">
                      <a16:colId xmlns:a16="http://schemas.microsoft.com/office/drawing/2014/main" val="4075335010"/>
                    </a:ext>
                  </a:extLst>
                </a:gridCol>
                <a:gridCol w="241185">
                  <a:extLst>
                    <a:ext uri="{9D8B030D-6E8A-4147-A177-3AD203B41FA5}">
                      <a16:colId xmlns:a16="http://schemas.microsoft.com/office/drawing/2014/main" val="2069316619"/>
                    </a:ext>
                  </a:extLst>
                </a:gridCol>
                <a:gridCol w="241185">
                  <a:extLst>
                    <a:ext uri="{9D8B030D-6E8A-4147-A177-3AD203B41FA5}">
                      <a16:colId xmlns:a16="http://schemas.microsoft.com/office/drawing/2014/main" val="1907490703"/>
                    </a:ext>
                  </a:extLst>
                </a:gridCol>
                <a:gridCol w="241185">
                  <a:extLst>
                    <a:ext uri="{9D8B030D-6E8A-4147-A177-3AD203B41FA5}">
                      <a16:colId xmlns:a16="http://schemas.microsoft.com/office/drawing/2014/main" val="2449953547"/>
                    </a:ext>
                  </a:extLst>
                </a:gridCol>
                <a:gridCol w="241185">
                  <a:extLst>
                    <a:ext uri="{9D8B030D-6E8A-4147-A177-3AD203B41FA5}">
                      <a16:colId xmlns:a16="http://schemas.microsoft.com/office/drawing/2014/main" val="3286132170"/>
                    </a:ext>
                  </a:extLst>
                </a:gridCol>
                <a:gridCol w="241185">
                  <a:extLst>
                    <a:ext uri="{9D8B030D-6E8A-4147-A177-3AD203B41FA5}">
                      <a16:colId xmlns:a16="http://schemas.microsoft.com/office/drawing/2014/main" val="1181306580"/>
                    </a:ext>
                  </a:extLst>
                </a:gridCol>
                <a:gridCol w="241185">
                  <a:extLst>
                    <a:ext uri="{9D8B030D-6E8A-4147-A177-3AD203B41FA5}">
                      <a16:colId xmlns:a16="http://schemas.microsoft.com/office/drawing/2014/main" val="1943013910"/>
                    </a:ext>
                  </a:extLst>
                </a:gridCol>
                <a:gridCol w="241185">
                  <a:extLst>
                    <a:ext uri="{9D8B030D-6E8A-4147-A177-3AD203B41FA5}">
                      <a16:colId xmlns:a16="http://schemas.microsoft.com/office/drawing/2014/main" val="412172414"/>
                    </a:ext>
                  </a:extLst>
                </a:gridCol>
                <a:gridCol w="241185">
                  <a:extLst>
                    <a:ext uri="{9D8B030D-6E8A-4147-A177-3AD203B41FA5}">
                      <a16:colId xmlns:a16="http://schemas.microsoft.com/office/drawing/2014/main" val="1433505317"/>
                    </a:ext>
                  </a:extLst>
                </a:gridCol>
                <a:gridCol w="241185">
                  <a:extLst>
                    <a:ext uri="{9D8B030D-6E8A-4147-A177-3AD203B41FA5}">
                      <a16:colId xmlns:a16="http://schemas.microsoft.com/office/drawing/2014/main" val="2496588075"/>
                    </a:ext>
                  </a:extLst>
                </a:gridCol>
                <a:gridCol w="241185">
                  <a:extLst>
                    <a:ext uri="{9D8B030D-6E8A-4147-A177-3AD203B41FA5}">
                      <a16:colId xmlns:a16="http://schemas.microsoft.com/office/drawing/2014/main" val="2437822092"/>
                    </a:ext>
                  </a:extLst>
                </a:gridCol>
                <a:gridCol w="241185">
                  <a:extLst>
                    <a:ext uri="{9D8B030D-6E8A-4147-A177-3AD203B41FA5}">
                      <a16:colId xmlns:a16="http://schemas.microsoft.com/office/drawing/2014/main" val="1537157703"/>
                    </a:ext>
                  </a:extLst>
                </a:gridCol>
                <a:gridCol w="241185">
                  <a:extLst>
                    <a:ext uri="{9D8B030D-6E8A-4147-A177-3AD203B41FA5}">
                      <a16:colId xmlns:a16="http://schemas.microsoft.com/office/drawing/2014/main" val="4172682794"/>
                    </a:ext>
                  </a:extLst>
                </a:gridCol>
                <a:gridCol w="241185">
                  <a:extLst>
                    <a:ext uri="{9D8B030D-6E8A-4147-A177-3AD203B41FA5}">
                      <a16:colId xmlns:a16="http://schemas.microsoft.com/office/drawing/2014/main" val="483278055"/>
                    </a:ext>
                  </a:extLst>
                </a:gridCol>
                <a:gridCol w="241185">
                  <a:extLst>
                    <a:ext uri="{9D8B030D-6E8A-4147-A177-3AD203B41FA5}">
                      <a16:colId xmlns:a16="http://schemas.microsoft.com/office/drawing/2014/main" val="3853733804"/>
                    </a:ext>
                  </a:extLst>
                </a:gridCol>
                <a:gridCol w="241185">
                  <a:extLst>
                    <a:ext uri="{9D8B030D-6E8A-4147-A177-3AD203B41FA5}">
                      <a16:colId xmlns:a16="http://schemas.microsoft.com/office/drawing/2014/main" val="2520459465"/>
                    </a:ext>
                  </a:extLst>
                </a:gridCol>
                <a:gridCol w="241185">
                  <a:extLst>
                    <a:ext uri="{9D8B030D-6E8A-4147-A177-3AD203B41FA5}">
                      <a16:colId xmlns:a16="http://schemas.microsoft.com/office/drawing/2014/main" val="653056365"/>
                    </a:ext>
                  </a:extLst>
                </a:gridCol>
                <a:gridCol w="241185">
                  <a:extLst>
                    <a:ext uri="{9D8B030D-6E8A-4147-A177-3AD203B41FA5}">
                      <a16:colId xmlns:a16="http://schemas.microsoft.com/office/drawing/2014/main" val="566194959"/>
                    </a:ext>
                  </a:extLst>
                </a:gridCol>
                <a:gridCol w="241185">
                  <a:extLst>
                    <a:ext uri="{9D8B030D-6E8A-4147-A177-3AD203B41FA5}">
                      <a16:colId xmlns:a16="http://schemas.microsoft.com/office/drawing/2014/main" val="3805316512"/>
                    </a:ext>
                  </a:extLst>
                </a:gridCol>
                <a:gridCol w="241185">
                  <a:extLst>
                    <a:ext uri="{9D8B030D-6E8A-4147-A177-3AD203B41FA5}">
                      <a16:colId xmlns:a16="http://schemas.microsoft.com/office/drawing/2014/main" val="3241538144"/>
                    </a:ext>
                  </a:extLst>
                </a:gridCol>
                <a:gridCol w="241185">
                  <a:extLst>
                    <a:ext uri="{9D8B030D-6E8A-4147-A177-3AD203B41FA5}">
                      <a16:colId xmlns:a16="http://schemas.microsoft.com/office/drawing/2014/main" val="272810021"/>
                    </a:ext>
                  </a:extLst>
                </a:gridCol>
                <a:gridCol w="241185">
                  <a:extLst>
                    <a:ext uri="{9D8B030D-6E8A-4147-A177-3AD203B41FA5}">
                      <a16:colId xmlns:a16="http://schemas.microsoft.com/office/drawing/2014/main" val="1327475442"/>
                    </a:ext>
                  </a:extLst>
                </a:gridCol>
                <a:gridCol w="241185">
                  <a:extLst>
                    <a:ext uri="{9D8B030D-6E8A-4147-A177-3AD203B41FA5}">
                      <a16:colId xmlns:a16="http://schemas.microsoft.com/office/drawing/2014/main" val="3309390218"/>
                    </a:ext>
                  </a:extLst>
                </a:gridCol>
                <a:gridCol w="241185">
                  <a:extLst>
                    <a:ext uri="{9D8B030D-6E8A-4147-A177-3AD203B41FA5}">
                      <a16:colId xmlns:a16="http://schemas.microsoft.com/office/drawing/2014/main" val="1795028592"/>
                    </a:ext>
                  </a:extLst>
                </a:gridCol>
                <a:gridCol w="241185">
                  <a:extLst>
                    <a:ext uri="{9D8B030D-6E8A-4147-A177-3AD203B41FA5}">
                      <a16:colId xmlns:a16="http://schemas.microsoft.com/office/drawing/2014/main" val="1329581102"/>
                    </a:ext>
                  </a:extLst>
                </a:gridCol>
                <a:gridCol w="241185">
                  <a:extLst>
                    <a:ext uri="{9D8B030D-6E8A-4147-A177-3AD203B41FA5}">
                      <a16:colId xmlns:a16="http://schemas.microsoft.com/office/drawing/2014/main" val="1228959812"/>
                    </a:ext>
                  </a:extLst>
                </a:gridCol>
                <a:gridCol w="241185">
                  <a:extLst>
                    <a:ext uri="{9D8B030D-6E8A-4147-A177-3AD203B41FA5}">
                      <a16:colId xmlns:a16="http://schemas.microsoft.com/office/drawing/2014/main" val="1646032034"/>
                    </a:ext>
                  </a:extLst>
                </a:gridCol>
                <a:gridCol w="241185">
                  <a:extLst>
                    <a:ext uri="{9D8B030D-6E8A-4147-A177-3AD203B41FA5}">
                      <a16:colId xmlns:a16="http://schemas.microsoft.com/office/drawing/2014/main" val="3401693830"/>
                    </a:ext>
                  </a:extLst>
                </a:gridCol>
              </a:tblGrid>
              <a:tr h="470448">
                <a:tc>
                  <a:txBody>
                    <a:bodyPr/>
                    <a:lstStyle/>
                    <a:p>
                      <a:pPr>
                        <a:lnSpc>
                          <a:spcPct val="115000"/>
                        </a:lnSpc>
                        <a:spcAft>
                          <a:spcPts val="800"/>
                        </a:spcAft>
                        <a:buNone/>
                      </a:pPr>
                      <a:r>
                        <a:rPr lang="en-GB" sz="11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ACTIVITY</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APRIL</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MAY</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JUNE</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JULY</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AUGUST</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8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SEPTEMBER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8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OCTOBER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7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NOVEMBER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936848271"/>
                  </a:ext>
                </a:extLst>
              </a:tr>
              <a:tr h="391212">
                <a:tc>
                  <a:txBody>
                    <a:bodyPr/>
                    <a:lstStyle/>
                    <a:p>
                      <a:pPr>
                        <a:lnSpc>
                          <a:spcPct val="115000"/>
                        </a:lnSpc>
                        <a:spcAft>
                          <a:spcPts val="800"/>
                        </a:spcAft>
                        <a:buNone/>
                      </a:pPr>
                      <a:r>
                        <a:rPr lang="en-GB" sz="1100" kern="0" dirty="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WEEKS</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942590510"/>
                  </a:ext>
                </a:extLst>
              </a:tr>
              <a:tr h="383688">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Proposal</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187632538"/>
                  </a:ext>
                </a:extLst>
              </a:tr>
              <a:tr h="759854">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Literature Review</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31392593"/>
                  </a:ext>
                </a:extLst>
              </a:tr>
              <a:tr h="571772">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Requirements</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4289431490"/>
                  </a:ext>
                </a:extLst>
              </a:tr>
              <a:tr h="383688">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Design</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84889462"/>
                  </a:ext>
                </a:extLst>
              </a:tr>
              <a:tr h="383688">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Coding</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4086199965"/>
                  </a:ext>
                </a:extLst>
              </a:tr>
              <a:tr h="383688">
                <a:tc>
                  <a:txBody>
                    <a:bodyPr/>
                    <a:lstStyle/>
                    <a:p>
                      <a:pPr>
                        <a:lnSpc>
                          <a:spcPct val="115000"/>
                        </a:lnSpc>
                        <a:spcAft>
                          <a:spcPts val="800"/>
                        </a:spcAft>
                        <a:buNone/>
                      </a:pPr>
                      <a:r>
                        <a:rPr lang="en-GB" sz="1100" kern="0" dirty="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Testing</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830886321"/>
                  </a:ext>
                </a:extLst>
              </a:tr>
              <a:tr h="470609">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Documentation</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extLst>
                  <a:ext uri="{0D108BD9-81ED-4DB2-BD59-A6C34878D82A}">
                    <a16:rowId xmlns:a16="http://schemas.microsoft.com/office/drawing/2014/main" val="1320800971"/>
                  </a:ext>
                </a:extLst>
              </a:tr>
            </a:tbl>
          </a:graphicData>
        </a:graphic>
      </p:graphicFrame>
    </p:spTree>
    <p:extLst>
      <p:ext uri="{BB962C8B-B14F-4D97-AF65-F5344CB8AC3E}">
        <p14:creationId xmlns:p14="http://schemas.microsoft.com/office/powerpoint/2010/main" val="1330183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2410-3CD7-F417-72B1-D725DDA3444A}"/>
              </a:ext>
            </a:extLst>
          </p:cNvPr>
          <p:cNvSpPr>
            <a:spLocks noGrp="1"/>
          </p:cNvSpPr>
          <p:nvPr>
            <p:ph type="title"/>
          </p:nvPr>
        </p:nvSpPr>
        <p:spPr>
          <a:xfrm>
            <a:off x="1097280" y="286603"/>
            <a:ext cx="10058400" cy="757193"/>
          </a:xfrm>
        </p:spPr>
        <p:txBody>
          <a:bodyPr/>
          <a:lstStyle/>
          <a:p>
            <a:r>
              <a:rPr lang="en-US" dirty="0"/>
              <a:t>RESEARCH BUDGET</a:t>
            </a:r>
            <a:endParaRPr lang="en-ZM" dirty="0"/>
          </a:p>
        </p:txBody>
      </p:sp>
      <p:graphicFrame>
        <p:nvGraphicFramePr>
          <p:cNvPr id="4" name="Content Placeholder 3">
            <a:extLst>
              <a:ext uri="{FF2B5EF4-FFF2-40B4-BE49-F238E27FC236}">
                <a16:creationId xmlns:a16="http://schemas.microsoft.com/office/drawing/2014/main" id="{34583B51-9320-4A86-4F93-B6783AC48B56}"/>
              </a:ext>
            </a:extLst>
          </p:cNvPr>
          <p:cNvGraphicFramePr>
            <a:graphicFrameLocks noGrp="1"/>
          </p:cNvGraphicFramePr>
          <p:nvPr>
            <p:ph idx="1"/>
            <p:extLst>
              <p:ext uri="{D42A27DB-BD31-4B8C-83A1-F6EECF244321}">
                <p14:modId xmlns:p14="http://schemas.microsoft.com/office/powerpoint/2010/main" val="526466487"/>
              </p:ext>
            </p:extLst>
          </p:nvPr>
        </p:nvGraphicFramePr>
        <p:xfrm>
          <a:off x="1338502" y="1971626"/>
          <a:ext cx="9289241" cy="4290938"/>
        </p:xfrm>
        <a:graphic>
          <a:graphicData uri="http://schemas.openxmlformats.org/drawingml/2006/table">
            <a:tbl>
              <a:tblPr firstRow="1" bandRow="1">
                <a:tableStyleId>{D7AC3CCA-C797-4891-BE02-D94E43425B78}</a:tableStyleId>
              </a:tblPr>
              <a:tblGrid>
                <a:gridCol w="6067675">
                  <a:extLst>
                    <a:ext uri="{9D8B030D-6E8A-4147-A177-3AD203B41FA5}">
                      <a16:colId xmlns:a16="http://schemas.microsoft.com/office/drawing/2014/main" val="1863080930"/>
                    </a:ext>
                  </a:extLst>
                </a:gridCol>
                <a:gridCol w="3221566">
                  <a:extLst>
                    <a:ext uri="{9D8B030D-6E8A-4147-A177-3AD203B41FA5}">
                      <a16:colId xmlns:a16="http://schemas.microsoft.com/office/drawing/2014/main" val="1552363243"/>
                    </a:ext>
                  </a:extLst>
                </a:gridCol>
              </a:tblGrid>
              <a:tr h="634345">
                <a:tc>
                  <a:txBody>
                    <a:bodyPr/>
                    <a:lstStyle/>
                    <a:p>
                      <a:pPr marL="457200">
                        <a:lnSpc>
                          <a:spcPct val="150000"/>
                        </a:lnSpc>
                      </a:pPr>
                      <a:r>
                        <a:rPr lang="en-US" sz="1800" b="1" kern="100" dirty="0">
                          <a:solidFill>
                            <a:srgbClr val="FFFFFF"/>
                          </a:solidFill>
                          <a:effectLst/>
                        </a:rPr>
                        <a:t>ITEMS</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457200">
                        <a:lnSpc>
                          <a:spcPct val="150000"/>
                        </a:lnSpc>
                        <a:spcAft>
                          <a:spcPts val="800"/>
                        </a:spcAft>
                      </a:pPr>
                      <a:r>
                        <a:rPr lang="en-US" sz="1800" b="1" kern="100" dirty="0">
                          <a:solidFill>
                            <a:srgbClr val="FFFFFF"/>
                          </a:solidFill>
                          <a:effectLst/>
                        </a:rPr>
                        <a:t>COST (ZMW)</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4013628915"/>
                  </a:ext>
                </a:extLst>
              </a:tr>
              <a:tr h="634345">
                <a:tc>
                  <a:txBody>
                    <a:bodyPr/>
                    <a:lstStyle/>
                    <a:p>
                      <a:pPr marL="457200">
                        <a:lnSpc>
                          <a:spcPct val="150000"/>
                        </a:lnSpc>
                      </a:pPr>
                      <a:r>
                        <a:rPr lang="en-US" sz="1800" kern="100" dirty="0">
                          <a:effectLst/>
                        </a:rPr>
                        <a:t>VPS Hosting (DigitalOcean, 12 months)</a:t>
                      </a:r>
                    </a:p>
                  </a:txBody>
                  <a:tcPr marL="68580" marR="68580" marT="0" marB="0"/>
                </a:tc>
                <a:tc>
                  <a:txBody>
                    <a:bodyPr/>
                    <a:lstStyle/>
                    <a:p>
                      <a:pPr marL="457200">
                        <a:lnSpc>
                          <a:spcPct val="150000"/>
                        </a:lnSpc>
                        <a:spcAft>
                          <a:spcPts val="800"/>
                        </a:spcAft>
                      </a:pPr>
                      <a:r>
                        <a:rPr lang="en-US" sz="1800" kern="100" dirty="0">
                          <a:effectLst/>
                          <a:latin typeface="+mn-lt"/>
                          <a:ea typeface="Yu Mincho" panose="02020400000000000000" pitchFamily="18" charset="-128"/>
                          <a:cs typeface="Times New Roman" panose="02020603050405020304" pitchFamily="18" charset="0"/>
                        </a:rPr>
                        <a:t>2,520</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2226168504"/>
                  </a:ext>
                </a:extLst>
              </a:tr>
              <a:tr h="205145">
                <a:tc>
                  <a:txBody>
                    <a:bodyPr/>
                    <a:lstStyle/>
                    <a:p>
                      <a:pPr marL="457200">
                        <a:lnSpc>
                          <a:spcPct val="150000"/>
                        </a:lnSpc>
                      </a:pPr>
                      <a:r>
                        <a:rPr lang="en-US" sz="1800" kern="100" dirty="0">
                          <a:effectLst/>
                          <a:latin typeface="+mn-lt"/>
                          <a:ea typeface="Yu Mincho" panose="02020400000000000000" pitchFamily="18" charset="-128"/>
                          <a:cs typeface="Times New Roman" panose="02020603050405020304" pitchFamily="18" charset="0"/>
                        </a:rPr>
                        <a:t>Domain + SSL + Cloudflare CDN</a:t>
                      </a:r>
                    </a:p>
                  </a:txBody>
                  <a:tcPr marL="68580" marR="68580" marT="0" marB="0"/>
                </a:tc>
                <a:tc>
                  <a:txBody>
                    <a:bodyPr/>
                    <a:lstStyle/>
                    <a:p>
                      <a:pPr marL="457200">
                        <a:lnSpc>
                          <a:spcPct val="150000"/>
                        </a:lnSpc>
                        <a:spcAft>
                          <a:spcPts val="800"/>
                        </a:spcAft>
                      </a:pPr>
                      <a:r>
                        <a:rPr lang="en-US" sz="1800" kern="100" dirty="0">
                          <a:effectLst/>
                          <a:latin typeface="+mn-lt"/>
                          <a:ea typeface="Yu Mincho" panose="02020400000000000000" pitchFamily="18" charset="-128"/>
                          <a:cs typeface="Times New Roman" panose="02020603050405020304" pitchFamily="18" charset="0"/>
                        </a:rPr>
                        <a:t>  780</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25077042"/>
                  </a:ext>
                </a:extLst>
              </a:tr>
              <a:tr h="64266">
                <a:tc>
                  <a:txBody>
                    <a:bodyPr/>
                    <a:lstStyle/>
                    <a:p>
                      <a:pPr marL="457200">
                        <a:lnSpc>
                          <a:spcPct val="150000"/>
                        </a:lnSpc>
                      </a:pPr>
                      <a:r>
                        <a:rPr lang="en-US" sz="1800" kern="100" dirty="0">
                          <a:solidFill>
                            <a:srgbClr val="000000"/>
                          </a:solidFill>
                          <a:effectLst/>
                        </a:rPr>
                        <a:t>Transportation &amp; Field Visits (Lusaka)</a:t>
                      </a:r>
                    </a:p>
                  </a:txBody>
                  <a:tcPr marL="68580" marR="68580" marT="0" marB="0"/>
                </a:tc>
                <a:tc>
                  <a:txBody>
                    <a:bodyPr/>
                    <a:lstStyle/>
                    <a:p>
                      <a:pPr marL="457200">
                        <a:lnSpc>
                          <a:spcPct val="150000"/>
                        </a:lnSpc>
                        <a:spcAft>
                          <a:spcPts val="800"/>
                        </a:spcAft>
                      </a:pPr>
                      <a:r>
                        <a:rPr lang="en-US" sz="1800" kern="100" dirty="0">
                          <a:solidFill>
                            <a:srgbClr val="000000"/>
                          </a:solidFill>
                          <a:effectLst/>
                        </a:rPr>
                        <a:t>  1,800</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646560066"/>
                  </a:ext>
                </a:extLst>
              </a:tr>
              <a:tr h="531671">
                <a:tc>
                  <a:txBody>
                    <a:bodyPr/>
                    <a:lstStyle/>
                    <a:p>
                      <a:pPr marL="457200">
                        <a:lnSpc>
                          <a:spcPct val="150000"/>
                        </a:lnSpc>
                      </a:pPr>
                      <a:r>
                        <a:rPr lang="en-US" sz="1800" kern="100" dirty="0">
                          <a:solidFill>
                            <a:srgbClr val="000000"/>
                          </a:solidFill>
                          <a:effectLst/>
                        </a:rPr>
                        <a:t>Printing (proposals, reports)</a:t>
                      </a:r>
                    </a:p>
                  </a:txBody>
                  <a:tcPr marL="68580" marR="68580" marT="0" marB="0"/>
                </a:tc>
                <a:tc>
                  <a:txBody>
                    <a:bodyPr/>
                    <a:lstStyle/>
                    <a:p>
                      <a:pPr marL="457200">
                        <a:lnSpc>
                          <a:spcPct val="150000"/>
                        </a:lnSpc>
                        <a:spcAft>
                          <a:spcPts val="800"/>
                        </a:spcAft>
                      </a:pPr>
                      <a:r>
                        <a:rPr lang="en-US" sz="1800" kern="100" dirty="0">
                          <a:solidFill>
                            <a:srgbClr val="000000"/>
                          </a:solidFill>
                          <a:effectLst/>
                        </a:rPr>
                        <a:t>  540</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1398225308"/>
                  </a:ext>
                </a:extLst>
              </a:tr>
              <a:tr h="336430">
                <a:tc>
                  <a:txBody>
                    <a:bodyPr/>
                    <a:lstStyle/>
                    <a:p>
                      <a:pPr marL="457200">
                        <a:lnSpc>
                          <a:spcPct val="150000"/>
                        </a:lnSpc>
                      </a:pPr>
                      <a:r>
                        <a:rPr lang="en-US" sz="1800" kern="100" dirty="0">
                          <a:solidFill>
                            <a:srgbClr val="000000"/>
                          </a:solidFill>
                          <a:effectLst/>
                        </a:rPr>
                        <a:t>User Testing Incentives (20 participants × K50)</a:t>
                      </a:r>
                    </a:p>
                  </a:txBody>
                  <a:tcPr marL="68580" marR="68580" marT="0" marB="0"/>
                </a:tc>
                <a:tc>
                  <a:txBody>
                    <a:bodyPr/>
                    <a:lstStyle/>
                    <a:p>
                      <a:pPr marL="457200">
                        <a:lnSpc>
                          <a:spcPct val="150000"/>
                        </a:lnSpc>
                        <a:spcAft>
                          <a:spcPts val="800"/>
                        </a:spcAft>
                      </a:pPr>
                      <a:r>
                        <a:rPr lang="en-US" sz="1800" kern="100" dirty="0">
                          <a:effectLst/>
                          <a:latin typeface="+mn-lt"/>
                          <a:ea typeface="Yu Mincho" panose="02020400000000000000" pitchFamily="18" charset="-128"/>
                          <a:cs typeface="Times New Roman" panose="02020603050405020304" pitchFamily="18" charset="0"/>
                        </a:rPr>
                        <a:t>1,000</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4130974637"/>
                  </a:ext>
                </a:extLst>
              </a:tr>
              <a:tr h="336430">
                <a:tc>
                  <a:txBody>
                    <a:bodyPr/>
                    <a:lstStyle/>
                    <a:p>
                      <a:pPr marL="457200">
                        <a:lnSpc>
                          <a:spcPct val="150000"/>
                        </a:lnSpc>
                      </a:pPr>
                      <a:r>
                        <a:rPr lang="en-US" sz="1800" kern="100" dirty="0">
                          <a:solidFill>
                            <a:srgbClr val="000000"/>
                          </a:solidFill>
                          <a:effectLst/>
                        </a:rPr>
                        <a:t>MTN </a:t>
                      </a:r>
                      <a:r>
                        <a:rPr lang="en-US" sz="1800" kern="100" dirty="0" err="1">
                          <a:solidFill>
                            <a:srgbClr val="000000"/>
                          </a:solidFill>
                          <a:effectLst/>
                        </a:rPr>
                        <a:t>MoMo</a:t>
                      </a:r>
                      <a:r>
                        <a:rPr lang="en-US" sz="1800" kern="100" dirty="0">
                          <a:solidFill>
                            <a:srgbClr val="000000"/>
                          </a:solidFill>
                          <a:effectLst/>
                        </a:rPr>
                        <a:t> &amp; Airtel Money Integration Fee</a:t>
                      </a:r>
                    </a:p>
                    <a:p>
                      <a:pPr marL="457200">
                        <a:lnSpc>
                          <a:spcPct val="150000"/>
                        </a:lnSpc>
                      </a:pPr>
                      <a:endParaRPr lang="en-US" sz="1800" kern="100" dirty="0">
                        <a:solidFill>
                          <a:srgbClr val="000000"/>
                        </a:solidFill>
                        <a:effectLst/>
                      </a:endParaRPr>
                    </a:p>
                  </a:txBody>
                  <a:tcPr marL="68580" marR="68580" marT="0" marB="0"/>
                </a:tc>
                <a:tc>
                  <a:txBody>
                    <a:bodyPr/>
                    <a:lstStyle/>
                    <a:p>
                      <a:pPr marL="457200">
                        <a:lnSpc>
                          <a:spcPct val="150000"/>
                        </a:lnSpc>
                        <a:spcAft>
                          <a:spcPts val="800"/>
                        </a:spcAft>
                      </a:pPr>
                      <a:r>
                        <a:rPr lang="en-US" sz="1800" kern="100" dirty="0">
                          <a:effectLst/>
                          <a:latin typeface="+mn-lt"/>
                          <a:ea typeface="Yu Mincho" panose="02020400000000000000" pitchFamily="18" charset="-128"/>
                          <a:cs typeface="Times New Roman" panose="02020603050405020304" pitchFamily="18" charset="0"/>
                        </a:rPr>
                        <a:t>1,200</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996639401"/>
                  </a:ext>
                </a:extLst>
              </a:tr>
              <a:tr h="634345">
                <a:tc>
                  <a:txBody>
                    <a:bodyPr/>
                    <a:lstStyle/>
                    <a:p>
                      <a:pPr marL="457200">
                        <a:lnSpc>
                          <a:spcPct val="150000"/>
                        </a:lnSpc>
                      </a:pPr>
                      <a:r>
                        <a:rPr lang="en-US" sz="1800" b="1" kern="100" dirty="0">
                          <a:effectLst/>
                        </a:rPr>
                        <a:t>TOTAL</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457200">
                        <a:lnSpc>
                          <a:spcPct val="150000"/>
                        </a:lnSpc>
                        <a:spcAft>
                          <a:spcPts val="800"/>
                        </a:spcAft>
                      </a:pPr>
                      <a:r>
                        <a:rPr lang="en-US" sz="1800" kern="100" dirty="0">
                          <a:effectLst/>
                          <a:latin typeface="+mn-lt"/>
                          <a:ea typeface="Yu Mincho" panose="02020400000000000000" pitchFamily="18" charset="-128"/>
                          <a:cs typeface="Times New Roman" panose="02020603050405020304" pitchFamily="18" charset="0"/>
                        </a:rPr>
                        <a:t>K7,840</a:t>
                      </a:r>
                      <a:endParaRPr lang="en-ZM" sz="1800" kern="100" dirty="0">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464856371"/>
                  </a:ext>
                </a:extLst>
              </a:tr>
            </a:tbl>
          </a:graphicData>
        </a:graphic>
      </p:graphicFrame>
    </p:spTree>
    <p:extLst>
      <p:ext uri="{BB962C8B-B14F-4D97-AF65-F5344CB8AC3E}">
        <p14:creationId xmlns:p14="http://schemas.microsoft.com/office/powerpoint/2010/main" val="3487672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EEEE66-0C28-8683-EE6E-8D4A969A44E4}"/>
              </a:ext>
            </a:extLst>
          </p:cNvPr>
          <p:cNvSpPr>
            <a:spLocks noGrp="1"/>
          </p:cNvSpPr>
          <p:nvPr>
            <p:ph type="title"/>
          </p:nvPr>
        </p:nvSpPr>
        <p:spPr/>
        <p:txBody>
          <a:bodyPr/>
          <a:lstStyle/>
          <a:p>
            <a:pPr algn="ctr"/>
            <a:r>
              <a:rPr lang="en-US" dirty="0"/>
              <a:t>Thank you</a:t>
            </a:r>
            <a:endParaRPr lang="en-ZM" dirty="0"/>
          </a:p>
        </p:txBody>
      </p:sp>
    </p:spTree>
    <p:extLst>
      <p:ext uri="{BB962C8B-B14F-4D97-AF65-F5344CB8AC3E}">
        <p14:creationId xmlns:p14="http://schemas.microsoft.com/office/powerpoint/2010/main" val="628544852"/>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8A3B04-B0F3-4C12-A722-52B5CF6D97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1802</TotalTime>
  <Words>987</Words>
  <Application>Microsoft Office PowerPoint</Application>
  <PresentationFormat>Widescreen</PresentationFormat>
  <Paragraphs>381</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Bookman Old Style</vt:lpstr>
      <vt:lpstr>Calibri</vt:lpstr>
      <vt:lpstr>Century Gothic</vt:lpstr>
      <vt:lpstr>Franklin Gothic Book</vt:lpstr>
      <vt:lpstr>Times New Roman</vt:lpstr>
      <vt:lpstr>Wingdings</vt:lpstr>
      <vt:lpstr>1_RetrospectVTI</vt:lpstr>
      <vt:lpstr>E-Commerce Platform with Recommendation Engine</vt:lpstr>
      <vt:lpstr>INTRODUCTION AND BACKGROUND</vt:lpstr>
      <vt:lpstr>RESEARCH PROBLEM</vt:lpstr>
      <vt:lpstr>LITERATURE REVIEW</vt:lpstr>
      <vt:lpstr>RESEARCH OBJECTIVES</vt:lpstr>
      <vt:lpstr>RESEARCH QUESTIONS</vt:lpstr>
      <vt:lpstr>SCOPE OF STUDY</vt:lpstr>
      <vt:lpstr>RESEARCH METHODOLOGY</vt:lpstr>
      <vt:lpstr>RESEARCH METHODOLOGY</vt:lpstr>
      <vt:lpstr>RESEARCH METHODOLOGY</vt:lpstr>
      <vt:lpstr>CONCEPTUAL FRAMEWORK</vt:lpstr>
      <vt:lpstr>PROGRAM OF RESEARCH ACTIVITY (GANTT CHART)</vt:lpstr>
      <vt:lpstr>RESEARCH BUDGET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AND DEVELOPING AN EVIDENCE PROTECTION SYSTEM USING BLOCKCHAIN TECHNOLOGY</dc:title>
  <dc:creator>Thengo Ruth Banda</dc:creator>
  <cp:lastModifiedBy>Alexander Musonda</cp:lastModifiedBy>
  <cp:revision>103</cp:revision>
  <dcterms:created xsi:type="dcterms:W3CDTF">2024-03-14T04:21:18Z</dcterms:created>
  <dcterms:modified xsi:type="dcterms:W3CDTF">2026-05-15T17:33:29Z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